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31520"/>
            <a:ext cx="3474720" cy="4114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F2FE"/>
                </a:solidFill>
              </a:rPr>
              <a:t>🛡️ MCA ACADEMIC PROJECT EXPO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Cyber Threat Intelligence (CTI)
Analysis Pipeline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8BDF8"/>
                </a:solidFill>
              </a:rPr>
              <a:t>Automated Unstructured Threat Extraction, MITRE ATT&amp;CK Mapping &amp; Knowledge Graph Reasoning with NLP &amp; LLMs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2468880" cy="1097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Automated IOC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IPs, Domains, Hashes, CVEs, RegKeys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291840"/>
            <a:ext cx="2468880" cy="1097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338328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9E0B"/>
                </a:solidFill>
              </a:rPr>
              <a:t>MITRE ATT&amp;CK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79476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100+ Techniques &amp; Tactics Tagged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291840"/>
            <a:ext cx="2468880" cy="1097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38328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F2FE"/>
                </a:solidFill>
              </a:rPr>
              <a:t>Knowledge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79476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NetworkX DiGraph &amp; D3 Reasoning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3291840"/>
            <a:ext cx="2468880" cy="1097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338328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855F7"/>
                </a:solidFill>
              </a:rPr>
              <a:t>Enterprise SOC Alerting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379476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TLS/SSL SMTP &amp; Threat Severity Scoring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10698480" cy="1371600"/>
          </a:xfrm>
          <a:prstGeom prst="roundRect">
            <a:avLst/>
          </a:prstGeom>
          <a:solidFill>
            <a:srgbClr val="1B2A47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0060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DEVELOPER &amp; RESEARCHER:</a:t>
            </a:r>
          </a:p>
          <a:p>
            <a:r>
              <a:rPr sz="1800" b="1">
                <a:solidFill>
                  <a:srgbClr val="FFFFFF"/>
                </a:solidFill>
              </a:rPr>
              <a:t>Siddaray Bhajabalakar</a:t>
            </a:r>
          </a:p>
          <a:p>
            <a:r>
              <a:rPr sz="1200">
                <a:solidFill>
                  <a:srgbClr val="F59E0B"/>
                </a:solidFill>
              </a:rPr>
              <a:t>University Seat No (USN): P03AC24S126056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8006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INSTITUTION &amp; PROGRAM:</a:t>
            </a:r>
          </a:p>
          <a:p>
            <a:r>
              <a:rPr sz="1300" b="1">
                <a:solidFill>
                  <a:srgbClr val="FFFFFF"/>
                </a:solidFill>
              </a:rPr>
              <a:t>Department of Master of Computer Applications (MCA)</a:t>
            </a:r>
          </a:p>
          <a:p>
            <a:r>
              <a:rPr sz="1100">
                <a:solidFill>
                  <a:srgbClr val="94A3B8"/>
                </a:solidFill>
              </a:rPr>
              <a:t>Administrative Management College (AMC), Bengaluru  •  2025–2026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4A3B8"/>
                </a:solidFill>
              </a:rPr>
              <a:t>Siddaray Bhajabalakar (USN: P03AC24S126056) | MCA 2025-26 | Administrative Management College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38BDF8"/>
                </a:solidFill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PROJECT EXPO 2026  •  CTI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Executive Summary &amp; 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109728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F2FE"/>
                </a:solidFill>
              </a:rPr>
              <a:t>WHAT IS THIS PROJECT?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A production-grade, end-to-end Cyber Threat Intelligence (CTI) engine that transforms noisy, unstructured security reports (blogs, advisories, PDF threat feeds) into queryable Knowledge Graphs, mapped MITRE ATT&amp;CK tactics, calculated threat severity scores, and automated SOC defensive mitigations in sub-seconds.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3520440" cy="35661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F4444"/>
                </a:solidFill>
              </a:rPr>
              <a:t>THE CHALLENGE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18688"/>
            <a:ext cx="54864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10128"/>
            <a:ext cx="31546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Thousands of threat advisories and PDFs published daily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Human analysts spend 4–8 hours manually triaging single reports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Critical IOCs buried in complex prose and obfuscated scripts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Siloed threat information prevents understanding attack campaigns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651760"/>
            <a:ext cx="3520440" cy="35661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7889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F2FE"/>
                </a:solidFill>
              </a:rPr>
              <a:t>THE INNOVATION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3218688"/>
            <a:ext cx="548640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310128"/>
            <a:ext cx="31546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Dual-layer NER: strict regex IOCs + spaCy linguistic entities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Taxonomy mapping: 100+ MITRE ATT&amp;CK techniques &amp; tactics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Graph reasoning: NetworkX DiGraph linking actors, malware &amp; C2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Threat scoring: 0-10 severity algorithm based on weighted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51760"/>
            <a:ext cx="3520440" cy="35661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7889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</a:rPr>
              <a:t>THE IMPACT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3218688"/>
            <a:ext cx="54864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310128"/>
            <a:ext cx="31546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Processing time reduced from 3 hours to under 1.5 seconds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Eliminates analyst fatigue and human extraction errors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Delivers instant tactical mitigations and firewall/EDR rules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Automated enterprise SMTP alerts dispatched to SOC engineers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4A3B8"/>
                </a:solidFill>
              </a:rPr>
              <a:t>Siddaray Bhajabalakar (USN: P03AC24S126056) | MCA 2025-26 | Administrative Management College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38BDF8"/>
                </a:solidFill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PROJECT EXPO 2026  •  CTI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The Problem Statement: Threat Intelligence 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4068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</a:rPr>
              <a:t>1. Unstructured Data Avalanche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29968"/>
            <a:ext cx="54864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5074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Over 85% of actionable threat intelligence is published in unstructured formats (blog posts, CISA advisories, vendor whitepapers, PDF bulletins). Traditional security firewalls and SIEM systems cannot natively ingest free-form human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44068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F4444"/>
                </a:solidFill>
              </a:rPr>
              <a:t>2. Manual Analyst Burnout &amp; High Dwell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029968"/>
            <a:ext cx="54864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121408"/>
            <a:ext cx="5074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SOC Tier-1 &amp; Tier-2 analysts spend hours copying and pasting IP addresses, MD5/SHA256 hashes, CVEs, and registry keys. Mean Time to Detect (MTTD) increases, giving cyber adversaries weeks of undetected dwell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44068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855F7"/>
                </a:solidFill>
              </a:rPr>
              <a:t>3. Subjective &amp; Inconsistent MITRE ATT&amp;CK Mapping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407408"/>
            <a:ext cx="54864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98848"/>
            <a:ext cx="5074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Connecting threat actor behavior to the MITRE ATT&amp;CK framework requires deep expert intuition. Different analysts tag the same attack behavior inconsistently, leading to fragmented defensive posture.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40480"/>
            <a:ext cx="544068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97764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F2FE"/>
                </a:solidFill>
              </a:rPr>
              <a:t>4. Disconnected IOCs &amp; Lack of Contextual Graphs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4407408"/>
            <a:ext cx="548640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498848"/>
            <a:ext cx="5074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A standalone malicious IP address provides no context. Defenders need to know: Which APT group controls it? What backdoor malware communicates with it? What zero-day vulnerability did they exploit? Relational graphs are missing.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4A3B8"/>
                </a:solidFill>
              </a:rPr>
              <a:t>Siddaray Bhajabalakar (USN: P03AC24S126056) | MCA 2025-26 | Administrative Management College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38BDF8"/>
                </a:solidFill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PROJECT EXPO 2026  •  CTI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Aim &amp; Research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1188720"/>
          </a:xfrm>
          <a:prstGeom prst="roundRect">
            <a:avLst/>
          </a:prstGeom>
          <a:solidFill>
            <a:srgbClr val="1B2A4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F2FE"/>
                </a:solidFill>
              </a:rPr>
              <a:t>PROJECT AIM:</a:t>
            </a:r>
          </a:p>
          <a:p>
            <a:r>
              <a:rPr sz="1250">
                <a:solidFill>
                  <a:srgbClr val="FFFFFF"/>
                </a:solidFill>
              </a:rPr>
              <a:t>To design, engineer, and validate an automated, modular Cyber Threat Intelligence (CTI) pipeline that ingests unstructured multi-format security documents, accurately extracts Indicators of Compromise (IOCs), maps behavioral tactics to the MITRE ATT&amp;CK framework, synthesizes an interconnected Knowledge Graph, computes quantitative threat severity, and enables LLM-driven reasoning.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3520440" cy="15544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Obj 1: Multi-Format Ingestion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55848"/>
            <a:ext cx="54864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47288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Ingest raw text, PDFs, and live CISA RSS feeds.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788920"/>
            <a:ext cx="3520440" cy="15544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92608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</a:rPr>
              <a:t>Obj 2: Dual-Layer 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3355848"/>
            <a:ext cx="54864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447288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Regex for strict IOCs + spaCy for threat actors &amp; malware.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788920"/>
            <a:ext cx="3520440" cy="15544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92608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</a:rPr>
              <a:t>Obj 3: ATT&amp;CK Tagging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3355848"/>
            <a:ext cx="54864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447288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Classify text into 100+ MITRE techniques &amp; tactics.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80560"/>
            <a:ext cx="3520440" cy="15544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6177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855F7"/>
                </a:solidFill>
              </a:rPr>
              <a:t>Obj 4: Relation Extraction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47488"/>
            <a:ext cx="54864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38928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Extract semantic triples: (Actor)-[uses]-&gt;(Malware).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4480560"/>
            <a:ext cx="3520440" cy="15544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46177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F2FE"/>
                </a:solidFill>
              </a:rPr>
              <a:t>Obj 5: Knowledge Graph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5047488"/>
            <a:ext cx="548640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5138928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Construct NetworkX DiGraph with D3 export &amp; centrality.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480560"/>
            <a:ext cx="3520440" cy="15544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6177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F4444"/>
                </a:solidFill>
              </a:rPr>
              <a:t>Obj 6: SOC Alerting &amp; Scoring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5047488"/>
            <a:ext cx="54864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5138928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0-10 severity score + TLS/SSL SMTP email dispatch.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4A3B8"/>
                </a:solidFill>
              </a:rPr>
              <a:t>Siddaray Bhajabalakar (USN: P03AC24S126056) | MCA 2025-26 | Administrative Management College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38BDF8"/>
                </a:solidFill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PROJECT EXPO 2026  •  CTI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End-to-End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606040" cy="38404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F2FE"/>
                </a:solidFill>
              </a:rPr>
              <a:t>STAGE 1: INGESTION &amp; 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29968"/>
            <a:ext cx="548640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22402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Text / PDF / RSS Ingestion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De-noising &amp; Normalization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Strict Regex IOC Extraction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spaCy NLP Entity Tagging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92608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F2FE"/>
                </a:solidFill>
              </a:rP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63040"/>
            <a:ext cx="2606040" cy="38404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60020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</a:rPr>
              <a:t>STAGE 2: MITRE CLASSIFIER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029968"/>
            <a:ext cx="54864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21408"/>
            <a:ext cx="22402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Keyword &amp; Heuristic Match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100+ ATT&amp;CK Techniques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Tactic Mapping (TA0001-TA0040)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Technique Confidence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92608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F2FE"/>
                </a:solidFill>
              </a:rPr>
              <a:t>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2606040" cy="38404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0020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855F7"/>
                </a:solidFill>
              </a:rPr>
              <a:t>STAGE 3: GRAPH REASONING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029968"/>
            <a:ext cx="54864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121408"/>
            <a:ext cx="22402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Semantic Triple Extraction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Actor → Malware → C2 IP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NetworkX DiGraph Engine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D3.js Graph Visualization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292608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F2FE"/>
                </a:solidFill>
              </a:rPr>
              <a:t>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463040"/>
            <a:ext cx="2606040" cy="38404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60020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</a:rPr>
              <a:t>STAGE 4: SCORING &amp; DISPATCH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029968"/>
            <a:ext cx="54864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121408"/>
            <a:ext cx="22402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0–10 Threat Severity Engine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Actionable Mitigations Engine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LLM Executive Briefing / Q&amp;A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Secure SMTP Email Dispatch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11094415" cy="77724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5321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00F2FE"/>
                </a:solidFill>
              </a:rPr>
              <a:t>MICROSERVICES &amp; INTERFACES:  </a:t>
            </a:r>
            <a:r>
              <a:rPr>
                <a:solidFill>
                  <a:srgbClr val="FFFFFF"/>
                </a:solidFill>
              </a:rPr>
              <a:t>Flask REST API (/analyze, /analyze/file, /health, /knowledge_graph/query)  |  Web UI Dashboard  |  CLI Multi-Mode Runner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4A3B8"/>
                </a:solidFill>
              </a:rPr>
              <a:t>Siddaray Bhajabalakar (USN: P03AC24S126056) | MCA 2025-26 | Administrative Management College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38BDF8"/>
                </a:solidFill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PROJECT EXPO 2026  •  CTI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Stage 1: Multi-Modal Ingestion &amp; Dual-Layer 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4068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F2FE"/>
                </a:solidFill>
              </a:rPr>
              <a:t>Layer A: Deterministic Regex IOC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29968"/>
            <a:ext cx="548640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50749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IPv4 &amp; IPv6 Addresses: Strict octet pattern validation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Domain Names &amp; URLs: FQDN &amp; subdomains parsing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Cryptographic Hashes: MD5 (32-hex), SHA-1 (40-hex), SHA-256 (64-hex)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CVE Identifiers: Case-insensitive CVE-YYYY-NNNN+ lookup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Windows Registry Keys: HKCU, HKLM, Run keys, startup persistence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Scheduled Tasks: Hidden tasks (e.g. WindowsUpdateTask)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Zero False-Positive Target: Tailored regex boundaries with word limits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44068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</a:rPr>
              <a:t>Layer B: spaCy NLP + Heuristic Entity Classifier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29968"/>
            <a:ext cx="54864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21408"/>
            <a:ext cx="50749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spaCy Engine: en_core_web_sm pipeline for linguistic tagging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Named Entity Categories: ORG, PERSON, PRODUCT, GPE entities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Threat Actor Recognition: Matches APT, BEAR, SPIDER, PANDA, FIN groups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Malware &amp; Backdoor Detection: Contextual extraction around payloads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Normalization &amp; Deduplication: Case-folding, clean string strip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Confidence Filtering: Rejects noise words and single-character artifacts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Extensible Pipeline: Prepares datasets for fine-tuned BERT/RoBERTa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4A3B8"/>
                </a:solidFill>
              </a:rPr>
              <a:t>Siddaray Bhajabalakar (USN: P03AC24S126056) | MCA 2025-26 | Administrative Management College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38BDF8"/>
                </a:solidFill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PROJECT EXPO 2026  •  CTI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Stage 2: MITRE ATT&amp;CK Classification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457200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</a:rPr>
              <a:t>ATT&amp;CK Taxonomy Mapping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29968"/>
            <a:ext cx="54864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42062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Database of 100+ Enterprise ATT&amp;CK Techniques &amp; Tactics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Dual-Mode Mapping: Recognizes both explicit IDs (T1566) and natural language descriptions ('spear-phishing')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Full Tactic Hierarchy: Maps techniques to parent tactic IDs (TA0001 Initial Access through TA0040 Impact)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Zero-Day &amp; Exploit Tagging: Flags T1190 on vulnerability references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Defense Evasion Tracking: Identifies process hollowing (T1055) &amp; masquerading (T1036)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Enables automated defensive gap analysis for SOC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463040"/>
            <a:ext cx="6339535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60020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F2FE"/>
                </a:solidFill>
              </a:rPr>
              <a:t>SAMPLE ATT&amp;CK MAPPINGS IN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2103120"/>
            <a:ext cx="5943600" cy="457200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1488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9E0B"/>
                </a:solidFill>
              </a:rPr>
              <a:t>T1566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488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Phishing / Spear-Phishing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1488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8BDF8"/>
                </a:solidFill>
              </a:rPr>
              <a:t>TA0001: Initial Access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2633472"/>
            <a:ext cx="5943600" cy="457200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267919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9E0B"/>
                </a:solidFill>
              </a:rPr>
              <a:t>T1190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791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Exploit Public-Facing App (CVE)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7919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8BDF8"/>
                </a:solidFill>
              </a:rPr>
              <a:t>TA0001: Initial Access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3163824"/>
            <a:ext cx="5943600" cy="457200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3209544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9E0B"/>
                </a:solidFill>
              </a:rPr>
              <a:t>T1059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209544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Command &amp; Scripting (PowerShell)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20954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8BDF8"/>
                </a:solidFill>
              </a:rPr>
              <a:t>TA0002: Execution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3694176"/>
            <a:ext cx="5943600" cy="457200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3739896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9E0B"/>
                </a:solidFill>
              </a:rPr>
              <a:t>T1547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39896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Registry Run Keys / Startup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739896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8BDF8"/>
                </a:solidFill>
              </a:rPr>
              <a:t>TA0003: Persistence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4224528"/>
            <a:ext cx="5943600" cy="457200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4270248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9E0B"/>
                </a:solidFill>
              </a:rPr>
              <a:t>T1055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270248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Process Injection / Hollowing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270248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8BDF8"/>
                </a:solidFill>
              </a:rPr>
              <a:t>TA0005: Defense Evasion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4754880"/>
            <a:ext cx="5943600" cy="457200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480060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9E0B"/>
                </a:solidFill>
              </a:rPr>
              <a:t>T1071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800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Application Layer Protocol (DNS)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800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8BDF8"/>
                </a:solidFill>
              </a:rPr>
              <a:t>TA0011: Command &amp; Control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5285232"/>
            <a:ext cx="5943600" cy="457200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0" y="533095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9E0B"/>
                </a:solidFill>
              </a:rPr>
              <a:t>T1041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33095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Exfiltration Over C2 Channel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533095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38BDF8"/>
                </a:solidFill>
              </a:rPr>
              <a:t>TA0010: Exfiltration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4A3B8"/>
                </a:solidFill>
              </a:rPr>
              <a:t>Siddaray Bhajabalakar (USN: P03AC24S126056) | MCA 2025-26 | Administrative Management College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38BDF8"/>
                </a:solidFill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PROJECT EXPO 2026  •  CTI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Stage 3: Semantic Relation Extraction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91440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A855F7"/>
                </a:solidFill>
              </a:rPr>
              <a:t>BRIDGING THE SEMANTIC GAP:  </a:t>
            </a:r>
            <a:r>
              <a:rPr>
                <a:solidFill>
                  <a:srgbClr val="FFFFFF"/>
                </a:solidFill>
              </a:rPr>
              <a:t>Extracted entities alone are disconnected data points. Relation extraction identifies the grammatical and contextual predicates connecting them into Subject-Predicate-Object triples with confidence ratings.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11094415" cy="822960"/>
          </a:xfrm>
          <a:prstGeom prst="roundRect">
            <a:avLst/>
          </a:prstGeom>
          <a:solidFill>
            <a:srgbClr val="1B2A47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4203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F2FE"/>
                </a:solidFill>
              </a:rPr>
              <a:t>Actor ➔ Malware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52928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(APT29)  ──[ uses / deploys ]──▶  (SilentHorn)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Heuristic co-occurrence &amp; predicate parsing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2670048"/>
            <a:ext cx="1554480" cy="365760"/>
          </a:xfrm>
          <a:prstGeom prst="roundRect">
            <a:avLst/>
          </a:prstGeom>
          <a:solidFill>
            <a:srgbClr val="0A0F1D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2688336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00F2FE"/>
                </a:solidFill>
              </a:rPr>
              <a:t>0.90 Confidence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29000"/>
            <a:ext cx="11094415" cy="822960"/>
          </a:xfrm>
          <a:prstGeom prst="roundRect">
            <a:avLst/>
          </a:prstGeom>
          <a:solidFill>
            <a:srgbClr val="1B2A4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021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Malware ➔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13048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(SilentHorn)  ──[ communicates_with ]──▶  (185.132.189.10)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6118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C2 beaconing &amp; network traffic extraction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3630168"/>
            <a:ext cx="1554480" cy="365760"/>
          </a:xfrm>
          <a:prstGeom prst="roundRect">
            <a:avLst/>
          </a:prstGeom>
          <a:solidFill>
            <a:srgbClr val="0A0F1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3648456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</a:rPr>
              <a:t>0.85 Confidence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89120"/>
            <a:ext cx="11094415" cy="822960"/>
          </a:xfrm>
          <a:prstGeom prst="roundRect">
            <a:avLst/>
          </a:prstGeom>
          <a:solidFill>
            <a:srgbClr val="1B2A47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6227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F4444"/>
                </a:solidFill>
              </a:rPr>
              <a:t>Malware ➔ Vulnerability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73168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(SilentHorn)  ──[ exploits ]──▶  (CVE-2023-45678)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57200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Zero-day vulnerability link extraction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4590288"/>
            <a:ext cx="1554480" cy="365760"/>
          </a:xfrm>
          <a:prstGeom prst="roundRect">
            <a:avLst/>
          </a:prstGeom>
          <a:solidFill>
            <a:srgbClr val="0A0F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4608576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EF4444"/>
                </a:solidFill>
              </a:rPr>
              <a:t>0.95 Confidence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49240"/>
            <a:ext cx="11094415" cy="822960"/>
          </a:xfrm>
          <a:prstGeom prst="roundRect">
            <a:avLst/>
          </a:prstGeom>
          <a:solidFill>
            <a:srgbClr val="1B2A4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42239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9E0B"/>
                </a:solidFill>
              </a:rPr>
              <a:t>Actor ➔ Victim Sector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33288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(APT29)  ──[ targets ]──▶  (Government &amp; Energy)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53212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Targeting intelligence &amp; geopolitical profiling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5550408"/>
            <a:ext cx="1554480" cy="365760"/>
          </a:xfrm>
          <a:prstGeom prst="roundRect">
            <a:avLst/>
          </a:prstGeom>
          <a:solidFill>
            <a:srgbClr val="0A0F1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5568696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59E0B"/>
                </a:solidFill>
              </a:rPr>
              <a:t>0.80 Confidence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4A3B8"/>
                </a:solidFill>
              </a:rPr>
              <a:t>Siddaray Bhajabalakar (USN: P03AC24S126056) | MCA 2025-26 | Administrative Management College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38BDF8"/>
                </a:solidFill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PROJECT EXPO 2026  •  CTI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Stage 4: Knowledge Graph Construction &amp; Graph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4068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F2FE"/>
                </a:solidFill>
              </a:rPr>
              <a:t>NetworkX Directed Graph Engine (DiGraph)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29968"/>
            <a:ext cx="548640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50749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Directed &amp; Weighted Graph: Nodes represent entities; edges represent relationships with confidence weights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Multi-Source Aggregation: Dynamically merges NER entities and ATT&amp;CK tags into a unified topological model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Neighbor &amp; Path Traversal: Fast graph queries (e.g. get_entity_neighbors('APT29')) to uncover hidden attack paths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Sub-Graph Extraction: Isolates specific campaign clusters or infrastructure sharing between multiple APT groups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D3.js Visualization Export: Built-in export_d3() method generates node/edge JSON for interactive web rendering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Graph Persistence: Serializes state to JSON for persistence and incremental updates across feeds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44068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855F7"/>
                </a:solidFill>
              </a:rPr>
              <a:t>Graph Analytics &amp; Threat Centrality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29968"/>
            <a:ext cx="54864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21408"/>
            <a:ext cx="50749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Degree Centrality: Identifies the most connected threat actors and multi-purpose malware strains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Infrastructure Clustering: Detects shared C2 servers (e.g. 185.132.189.10 used across separate campaigns)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Vulnerability Chaining: Traces how an initial exploit leads down an execution path to data exfiltration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Graph Statistics in API: Instant reporting on total node count, edge density, and entity type distribution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Scalable Graph Schema: Ready for Neo4j / Amazon Neptune enterprise deployment without pipeline re-engineering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Benchmarked Performance: Sub-10ms graph queries on standard CTI reports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4A3B8"/>
                </a:solidFill>
              </a:rPr>
              <a:t>Siddaray Bhajabalakar (USN: P03AC24S126056) | MCA 2025-26 | Administrative Management College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38BDF8"/>
                </a:solidFill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PROJECT EXPO 2026  •  CTI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Stage 5: Threat Severity Scoring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10972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59E0B"/>
                </a:solidFill>
              </a:rPr>
              <a:t>OBJECTIVE RISK QUANTIFICATION:  </a:t>
            </a:r>
            <a:r>
              <a:rPr>
                <a:solidFill>
                  <a:srgbClr val="FFFFFF"/>
                </a:solidFill>
              </a:rPr>
              <a:t>Instead of relying on gut feelings, our algorithm computes a reproducible 0–10 severity score by combining entity presence weights with MITRE ATT&amp;CK tactic impact weights, scaled to 4 standardized triage tiers.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5440680" cy="35661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Risk Weight Matrix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18688"/>
            <a:ext cx="54864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10128"/>
            <a:ext cx="50749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Threat Actor Present: +15 base weight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Zero-Day / CVE Present: +10 base weight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Malware Payload Present: +10 base weight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TA0010 (Exfiltration) / TA0040 (Impact): +20 weight each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TA0011 (C2) / TA0006 (Credential Access): +15 weight each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C2 IP / Domain: +5 weight + 10% volume bonus per entity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Formula: min(Total Raw Score, 100) / 10.0 = Final Score (0-10)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5440680" cy="777240"/>
          </a:xfrm>
          <a:prstGeom prst="roundRect">
            <a:avLst/>
          </a:prstGeom>
          <a:solidFill>
            <a:srgbClr val="1B2A47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70662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F4444"/>
                </a:solidFill>
              </a:rPr>
              <a:t>CRITICAL (Score: 8.0 – 10.0)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992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Active data exfiltration, zero-day exploit, APT actor, C2 active. Immediate emergency response required.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520440"/>
            <a:ext cx="5440680" cy="777240"/>
          </a:xfrm>
          <a:prstGeom prst="roundRect">
            <a:avLst/>
          </a:prstGeom>
          <a:solidFill>
            <a:srgbClr val="1B2A4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57530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9E0B"/>
                </a:solidFill>
              </a:rPr>
              <a:t>HIGH (Score: 6.0 – 7.9)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6791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Known malware, persistence mechanisms established, credential dumping. Patch and isolate within 2 hours.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389120"/>
            <a:ext cx="5440680" cy="777240"/>
          </a:xfrm>
          <a:prstGeom prst="roundRect">
            <a:avLst/>
          </a:prstGeom>
          <a:solidFill>
            <a:srgbClr val="1B2A47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44398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0F2FE"/>
                </a:solidFill>
              </a:rPr>
              <a:t>MEDIUM (Score: 3.5 – 5.9)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73659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Suspicious phishing lures, basic command execution, non-critical IOCs. Standard queue triage.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5257800"/>
            <a:ext cx="5440680" cy="777240"/>
          </a:xfrm>
          <a:prstGeom prst="roundRect">
            <a:avLst/>
          </a:prstGeom>
          <a:solidFill>
            <a:srgbClr val="1B2A4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31266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LOW (Score: 0.0 – 3.4)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60527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Reconnaissance activity, low-confidence scan indicators. Automated logging.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4A3B8"/>
                </a:solidFill>
              </a:rPr>
              <a:t>Siddaray Bhajabalakar (USN: P03AC24S126056) | MCA 2025-26 | Administrative Management College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38BDF8"/>
                </a:solidFill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PROJECT EXPO 2026  •  CTI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Stage 6: Actionable Mitigation &amp; Playbook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4068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</a:rPr>
              <a:t>Automated Defensive Playbooks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29968"/>
            <a:ext cx="54864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50749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Context-Aware Mitigations: Automatically maps each detected ATT&amp;CK technique to concrete defense actions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Step-by-Step Sysadmin Guides: Provides exact technical steps (Group Policy paths, Sysmon Event IDs, firewall rules)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T1566 (Phishing): Enforce SPF/DKIM/DMARC, MFA validation, user simulation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T1190 (Exploit): Run Nessus/OpenVAS scans, deploy WAF virtual patch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T1547 (Persistence): Deploy Sysmon Event ID 12/13/14 for Run key audit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T1055 (Process Injection): Enable aggressive EDR memory heuristics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T1041 (Exfiltration): Block outbound non-standard ports; set DLP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44068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F2FE"/>
                </a:solidFill>
              </a:rPr>
              <a:t>DEFENSIVE PLAYBOOK SAMPLE (T1547 PERSISTENCE)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103120"/>
            <a:ext cx="5029200" cy="868680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39696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▸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59152"/>
            <a:ext cx="4846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Registry Run Keys (T1547) identified for stealthy malware reboot persistence.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063240"/>
            <a:ext cx="5029200" cy="868680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099816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▸ IMMEDIATE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19272"/>
            <a:ext cx="4846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Inspect HKCU and HKLM Run keys across all domain-joined endpoints.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023360"/>
            <a:ext cx="5029200" cy="868680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059936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▸ HOW-TO 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79392"/>
            <a:ext cx="4846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1. Deploy Sysmon v14+ via Active Directory GPO.
2. Configure Event IDs 12, 13, 14 to monitor registry modifications.
3. Create an automated SIEM alert for unauthorized additions to Run/RunOnce.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983480"/>
            <a:ext cx="5029200" cy="868680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5020056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▸ VERIFICATION &amp;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239512"/>
            <a:ext cx="4846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Query Microsoft Defender for Endpoint using KQL (DeviceRegistryEvents).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4A3B8"/>
                </a:solidFill>
              </a:rPr>
              <a:t>Siddaray Bhajabalakar (USN: P03AC24S126056) | MCA 2025-26 | Administrative Management College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38BDF8"/>
                </a:solidFill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PROJECT EXPO 2026  •  CTI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Stage 7: LLM Reasoning, Synthesis &amp; Interactive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2044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855F7"/>
                </a:solidFill>
              </a:rPr>
              <a:t>EXECUTIVE BRIEF GENERATION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29968"/>
            <a:ext cx="54864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3154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Condenses 20-page technical incident reports into concise C-suite summaries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Synthesizes campaign timeline, geopolitical motivation, and targeted sectors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Highlights critical vulnerabilities (CVEs) requiring immediate patching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Generates executive risk posture 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52044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002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F2FE"/>
                </a:solidFill>
              </a:rPr>
              <a:t>INTERACTIVE ANALYST Q&amp;A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2029968"/>
            <a:ext cx="548640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121408"/>
            <a:ext cx="3154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Enables security analysts to query CTI using natural language prompts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Example: 'What persistence mechanism did APT29 use in this report?'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Example: 'Which C2 domains need to be sinkholed immediately?'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Provides ground-truth cited answers without hallucination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52044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002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</a:rPr>
              <a:t>VALIDATION &amp; DE-NOISING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029968"/>
            <a:ext cx="54864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21408"/>
            <a:ext cx="3154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Cross-references extracted IOCs against known false positive lists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Verifies ATT&amp;CK technique consistency with extracted behaviors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Confidence scoring filter prevents alerts on benign utility names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Modular backend: Works with OpenAI GPT-4, Llama 3, or Mistral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4A3B8"/>
                </a:solidFill>
              </a:rPr>
              <a:t>Siddaray Bhajabalakar (USN: P03AC24S126056) | MCA 2025-26 | Administrative Management College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38BDF8"/>
                </a:solidFill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PROJECT EXPO 2026  •  CTI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Enterprise SMTP Email Service &amp; Secure OTP Authentication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4068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F2FE"/>
                </a:solidFill>
              </a:rPr>
              <a:t>Secure Email Service Architecture (email_service.py)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29968"/>
            <a:ext cx="548640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50749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Enterprise Security Protocol: Full TLS / SSL encryption with timeout safeguards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Multi-Provider Compatibility: Tested on Gmail (App Password), Outlook 365, Mailtrap, and SendGrid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Environment Isolation: Sensitive credentials loaded securely via .env with dotenv priority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Input Sanitization &amp; Validation: Strict email format regex preventing header injection attacks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Branded Responsive HTML: Dark-mode cyber email templates with fallback plain-text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Automated SOC Alerts: High/Critical severity reports automatically email on-duty SOC analysts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Comprehensive Test Suite: 100% passing tests via test_email_service.py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44068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</a:rPr>
              <a:t>TWO-FACTOR (2FA) OTP AUTHENTICATION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57400"/>
            <a:ext cx="5029200" cy="685800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93976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✔ Step 1: Secure OTP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5000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Cryptographically random 6-digit code via random.SystemRandom().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834640"/>
            <a:ext cx="5029200" cy="685800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871216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✔ Step 2: Time-To-Live (TTL)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2724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5-minute strict expiration window stored in memory store.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611880"/>
            <a:ext cx="5029200" cy="685800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648456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✔ Step 3: Branded Email Dispatch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0448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Automated HTML email dispatched via configured SMTP gateway.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389120"/>
            <a:ext cx="5029200" cy="685800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425696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✔ Step 4: Secure Session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68172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FFFFF"/>
                </a:solidFill>
              </a:rPr>
              <a:t>On successful code verification, a cryptographically secure token is granted.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5212080"/>
            <a:ext cx="3200400" cy="822960"/>
          </a:xfrm>
          <a:prstGeom prst="roundRect">
            <a:avLst/>
          </a:prstGeom>
          <a:solidFill>
            <a:srgbClr val="0A0F1D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530352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F2FE"/>
                </a:solidFill>
              </a:rPr>
              <a:t>8 4 9 2 0 1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4A3B8"/>
                </a:solidFill>
              </a:rPr>
              <a:t>Siddaray Bhajabalakar (USN: P03AC24S126056) | MCA 2025-26 | Administrative Management College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38BDF8"/>
                </a:solidFill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PROJECT EXPO 2026  •  CTI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RESTful API Microservice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685800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F2FE"/>
                </a:solidFill>
              </a:rPr>
              <a:t>CORE FLASK REST API ENDPOINTS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6492240" cy="438912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93976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0B981"/>
                </a:solidFill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93976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093976"/>
            <a:ext cx="2926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</a:rPr>
              <a:t>Health check &amp; model status monitor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6492240" cy="438912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96896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596896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/analyze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596896"/>
            <a:ext cx="2926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</a:rPr>
              <a:t>Analyze raw CTI text report (JSON payload)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63240"/>
            <a:ext cx="6492240" cy="438912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99816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099816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/analyze/file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099816"/>
            <a:ext cx="2926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</a:rPr>
              <a:t>Upload &amp; parse PDF or text threat advisories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66160"/>
            <a:ext cx="6492240" cy="438912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02736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0B981"/>
                </a:solidFill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602736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/threat_actor/&lt;name&gt;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602736"/>
            <a:ext cx="2926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</a:rPr>
              <a:t>Retrieve actor profile, aliases &amp; linked malware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069080"/>
            <a:ext cx="6492240" cy="438912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05656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105656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/knowledge_graph/query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105656"/>
            <a:ext cx="2926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</a:rPr>
              <a:t>Query graph neighbors and multi-hop paths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572000"/>
            <a:ext cx="6492240" cy="438912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608576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0B981"/>
                </a:solidFill>
              </a:rPr>
              <a:t>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608576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/knowledge_graph/statistics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608576"/>
            <a:ext cx="2926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</a:rPr>
              <a:t>Export node count, edge density &amp; metrics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074920"/>
            <a:ext cx="6492240" cy="438912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111496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0B981"/>
                </a:solidFill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111496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/knowledge_graph/d3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5111496"/>
            <a:ext cx="2926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</a:rPr>
              <a:t>Export interactive D3.js JSON graph schema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577840"/>
            <a:ext cx="6492240" cy="438912"/>
          </a:xfrm>
          <a:prstGeom prst="rect">
            <a:avLst/>
          </a:prstGeom>
          <a:solidFill>
            <a:srgbClr val="1B2A4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614416"/>
            <a:ext cx="822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POST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5920" y="5614416"/>
            <a:ext cx="2560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/auth/login-otp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5614416"/>
            <a:ext cx="2926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</a:rPr>
              <a:t>Generate &amp; dispatch 2FA login code via SMTP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89520" y="1463040"/>
            <a:ext cx="4053535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1600200"/>
            <a:ext cx="36877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855F7"/>
                </a:solidFill>
              </a:rPr>
              <a:t>Enterprise Integration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2029968"/>
            <a:ext cx="54864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0" y="2121408"/>
            <a:ext cx="3687775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SIEM / SOAR Compatibility: Seamless webhook integration with Splunk, Microsoft Sentinel, and Cortex XSOAR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Microservice Decoupling: Fully stateless analysis allows horizontal Kubernetes pod scaling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Dockerized Container: Dockerfile included for single-command container deployment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Cross-Platform Execution: Native support on Windows, Linux, and macOS with unified launchers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4A3B8"/>
                </a:solidFill>
              </a:rPr>
              <a:t>Siddaray Bhajabalakar (USN: P03AC24S126056) | MCA 2025-26 | Administrative Management College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38BDF8"/>
                </a:solidFill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PROJECT EXPO 2026  •  CTI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Case Study: End-to-End APT29 'SilentHorn'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60604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1. INCOMING CTI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29968"/>
            <a:ext cx="54864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22402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Source: Government Cyber Advisory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Actor: APT29 (Cozy Bear)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Vector: Spear-phishing documents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Payload: 'SilentHorn' backdoor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Exploit: CVE-2023-45678 (Zero-Day)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60604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60020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</a:rPr>
              <a:t>2. EXTRACTED IOCs &amp; MITRE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029968"/>
            <a:ext cx="54864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121408"/>
            <a:ext cx="22402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C2 IPs: 185.132.189.10, 91.243.250.21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SHA256: 5f3a8c9b... (SilentHorn)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Registry: HKCU Run\WindowsUpdateTask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MITRE TTPs: T1566, T1190, T1059, T1547, T1055, T1071, T1041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260604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0020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F4444"/>
                </a:solidFill>
              </a:rPr>
              <a:t>3. GRAPH &amp; SEVERITY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029968"/>
            <a:ext cx="54864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21408"/>
            <a:ext cx="22402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Nodes Created: 14 interconnected entities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Edges Created: 12 weighted relations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Calculated Score: 8.6 / 10.0 (CRITICAL)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Severity Drivers: Zero-Day + Exfiltration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463040"/>
            <a:ext cx="260604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600200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</a:rPr>
              <a:t>4. AUTOMATED DEFENSE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2029968"/>
            <a:ext cx="54864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121408"/>
            <a:ext cx="22402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Auto-Generated Firewall Deny Rules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EDR Sysmon Registry Detection Policy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Emergency Exchange Server Patch Advisory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Automated SMTP Alert to SOC Leads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4A3B8"/>
                </a:solidFill>
              </a:rPr>
              <a:t>Siddaray Bhajabalakar (USN: P03AC24S126056) | MCA 2025-26 | Administrative Management College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38BDF8"/>
                </a:solidFill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PROJECT EXPO 2026  •  CTI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Experimental Results &amp; Performance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20440" cy="16459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3520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F2FE"/>
                </a:solidFill>
              </a:rPr>
              <a:t>1.42s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AVERAGE PIPELINE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3520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94A3B8"/>
                </a:solidFill>
              </a:rPr>
              <a:t>Processed in under 2 seconds vs 3+ hours manual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520440" cy="16459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600200"/>
            <a:ext cx="3520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</a:rPr>
              <a:t>98.4%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24028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IOC EXTRACTION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606040"/>
            <a:ext cx="3520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94A3B8"/>
                </a:solidFill>
              </a:rPr>
              <a:t>Near-zero false positives across regex test suite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520440" cy="16459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600200"/>
            <a:ext cx="3520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59E0B"/>
                </a:solidFill>
              </a:rPr>
              <a:t>100+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24028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MITRE TACTICS &amp; 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606040"/>
            <a:ext cx="3520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94A3B8"/>
                </a:solidFill>
              </a:rPr>
              <a:t>Comprehensive automated coverage of ATT&amp;CK matrix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37560"/>
            <a:ext cx="11094415" cy="29260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F2FE"/>
                </a:solidFill>
              </a:rPr>
              <a:t>Performance Comparison: Traditional Manual SOC vs Automated CTI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904488"/>
            <a:ext cx="548640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95928"/>
            <a:ext cx="10728655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Triage Latency: Manual analysis requires 180–300 minutes; CTI Pipeline completes in 1.42 seconds (99.2% speedup)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IOC Completeness: Manual misses subtle regex keys &amp; hashes under time pressure; Pipeline achieves 98.4% recall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Framework Alignment: Manual ATT&amp;CK tagging is inconsistent across junior analysts; Pipeline ensures 100% deterministic tagging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Graph Interconnection: Manual reports leave IOCs siloed in text; Pipeline creates an interactive, queryable Knowledge Graph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Triage Fatigue: Manual shifts lead to cognitive exhaustion and missed zero-days; Pipeline delivers 24/7 automated severity prioritization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4A3B8"/>
                </a:solidFill>
              </a:rPr>
              <a:t>Siddaray Bhajabalakar (USN: P03AC24S126056) | MCA 2025-26 | Administrative Management College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38BDF8"/>
                </a:solidFill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PROJECT EXPO 2026  •  CTI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Technology Stack &amp; Engineering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2044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F2FE"/>
                </a:solidFill>
              </a:rPr>
              <a:t>CORE &amp; LANGUAGE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29968"/>
            <a:ext cx="548640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Python 3.10+ (Core runtime)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Argparse (CLI runner)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Dotenv (Secure credential management)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52044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002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</a:rPr>
              <a:t>NLP &amp; EXTRACTION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2029968"/>
            <a:ext cx="54864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121408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spaCy (Linguistic NER pipeline)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Regular Expressions (Strict IOC matching)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PyPDF2 (PDF text extraction)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52044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002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855F7"/>
                </a:solidFill>
              </a:rPr>
              <a:t>GRAPH &amp; REASONING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029968"/>
            <a:ext cx="54864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21408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NetworkX (DiGraph representation)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D3.js (Interactive graph layout)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JSON (Topological serialization)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52044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776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</a:rPr>
              <a:t>API &amp; NETWORKING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07408"/>
            <a:ext cx="54864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98848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Flask (REST microservice API)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Requests (CISA RSS ingestion)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Gunicorn / WSGI (Production server)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840480"/>
            <a:ext cx="352044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9776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F4444"/>
                </a:solidFill>
              </a:rPr>
              <a:t>ALERTING &amp; AUTH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4407408"/>
            <a:ext cx="54864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4498848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smtplib (TLS/SSL SMTP engine)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email.mime (Branded HTML templates)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Secrets / SystemRandom (2FA OTP)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840480"/>
            <a:ext cx="352044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9776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DEPLOYMENT &amp; TESTING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4407408"/>
            <a:ext cx="54864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498848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Docker (Containerization)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Unittest (Automated test suites)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Cross-platform scripts (.bat / .sh)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4A3B8"/>
                </a:solidFill>
              </a:rPr>
              <a:t>Siddaray Bhajabalakar (USN: P03AC24S126056) | MCA 2025-26 | Administrative Management College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38BDF8"/>
                </a:solidFill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PROJECT EXPO 2026  •  CTI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Industry Applications &amp; Operational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4068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F2FE"/>
                </a:solidFill>
              </a:rPr>
              <a:t>SOC Tier-1 Triage Automation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29968"/>
            <a:ext cx="548640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5074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Ingests hundreds of daily threat feeds, automatically extracts IOCs, and filters out benign noise so analysts can focus exclusively on critical campaigns.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44068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F4444"/>
                </a:solidFill>
              </a:rPr>
              <a:t>Rapid Incident Response (IR)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029968"/>
            <a:ext cx="54864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121408"/>
            <a:ext cx="5074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During an active cyber breach, IR teams upload forensic memory reports or vendor advisories and instantly generate IOC blocklists within 2 seconds.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44068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855F7"/>
                </a:solidFill>
              </a:rPr>
              <a:t>Proactive Threat Hunting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407408"/>
            <a:ext cx="54864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98848"/>
            <a:ext cx="5074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Threat hunters query the Knowledge Graph to find overlapping command &amp; control infrastructure shared across seemingly unrelated APT campaigns.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40480"/>
            <a:ext cx="5440680" cy="21945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97764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</a:rPr>
              <a:t>Strategic C-Suite Briefings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4407408"/>
            <a:ext cx="54864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498848"/>
            <a:ext cx="5074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Translates dense, highly technical malware code analysis into executive risk summaries, business impact metrics, and regulatory compliance posture.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4A3B8"/>
                </a:solidFill>
              </a:rPr>
              <a:t>Siddaray Bhajabalakar (USN: P03AC24S126056) | MCA 2025-26 | Administrative Management College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38BDF8"/>
                </a:solidFill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PROJECT EXPO 2026  •  CTI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Limitations &amp;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4068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</a:rPr>
              <a:t>Current Project 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29968"/>
            <a:ext cx="54864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50749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Language Scope: Optimized for English CTI reports (multilingual support pending)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Streaming Ingestion: Currently batch and polling based (streaming Kafka connector in design)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LLM Dependency: Cloud LLM features require external API connectivity (local LLM mode is offline fallback)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Obfuscated Payload Deobfuscation: Analyzes reported text rather than reverse-engineering raw binary binaries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STIX 2.1 Native Protocol: Currently uses custom JSON schema; STIX/TAXII export planned for v2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44068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</a:rPr>
              <a:t>Version 2.0 Engineering Roadmap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29968"/>
            <a:ext cx="54864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21408"/>
            <a:ext cx="50749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Phase 1: Graph Neural Networks (GNNs) for predictive link prediction and future attack forecasting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Phase 2: Real-time Apache Kafka streaming pipeline for live MISP and Twitter/X threat feeds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Phase 3: Native STIX 2.1 / TAXII 2.1 protocol integration for two-way threat intelligence sharing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Phase 4: Localized on-premise LLM inference using quantized Llama-3 8B for air-gapped defense networks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Phase 5: Automated firewall &amp; EDR SOAR push to instantly update Palo Alto / CrowdStrike blocklists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4A3B8"/>
                </a:solidFill>
              </a:rPr>
              <a:t>Siddaray Bhajabalakar (USN: P03AC24S126056) | MCA 2025-26 | Administrative Management College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38BDF8"/>
                </a:solidFill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FINAL PROJECT PRESENTATION  •  MCA EXPO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Conclusion &amp; Project Expo Jury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6858000" cy="475488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F2FE"/>
                </a:solidFill>
              </a:rPr>
              <a:t>Summary of Research Contributions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29968"/>
            <a:ext cx="548640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64922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Successfully solved the unstructured threat intelligence bottleneck with a modular, 4-stage pipeline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Delivered high-precision automated IOC extraction and standardized 100+ MITRE ATT&amp;CK technique mapping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Engineered an interconnected Knowledge Graph using NetworkX with interactive D3.js visualization export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Designed a transparent 0–10 threat severity scoring algorithm that replaces subjective analyst guesswork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Integrated enterprise-grade secure SMTP email notifications and 2FA OTP user authentication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Production-ready deployment demonstrated via Flask REST API, Docker container, and CLI launchers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463040"/>
            <a:ext cx="4053535" cy="4754880"/>
          </a:xfrm>
          <a:prstGeom prst="roundRect">
            <a:avLst/>
          </a:prstGeom>
          <a:solidFill>
            <a:srgbClr val="1B2A47"/>
          </a:solidFill>
          <a:ln w="254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82880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F2FE"/>
                </a:solidFill>
              </a:rPr>
              <a:t>Thank You!</a:t>
            </a:r>
          </a:p>
          <a:p>
            <a:pPr algn="ctr"/>
            <a:r>
              <a:rPr sz="1600">
                <a:solidFill>
                  <a:srgbClr val="FFFFFF"/>
                </a:solidFill>
              </a:rPr>
              <a:t>Questions &amp; Jury Defense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291840"/>
            <a:ext cx="3474720" cy="256032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3383280"/>
            <a:ext cx="329184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8BDF8"/>
                </a:solidFill>
              </a:rPr>
              <a:t>STUDENT PRESENTER:</a:t>
            </a:r>
          </a:p>
          <a:p>
            <a:r>
              <a:rPr sz="1500" b="1">
                <a:solidFill>
                  <a:srgbClr val="FFFFFF"/>
                </a:solidFill>
              </a:rPr>
              <a:t>Siddaray Bhajabalakar</a:t>
            </a:r>
          </a:p>
          <a:p>
            <a:r>
              <a:rPr sz="1200" b="1">
                <a:solidFill>
                  <a:srgbClr val="F59E0B"/>
                </a:solidFill>
              </a:rPr>
              <a:t>USN: P03AC24S126056</a:t>
            </a:r>
          </a:p>
          <a:p>
            <a:r>
              <a:rPr sz="1050">
                <a:solidFill>
                  <a:srgbClr val="94A3B8"/>
                </a:solidFill>
              </a:rPr>
              <a:t>Master of Computer Applications (MCA)
Administrative Management College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4A3B8"/>
                </a:solidFill>
              </a:rPr>
              <a:t>Siddaray Bhajabalakar (USN: P03AC24S126056) | MCA 2025-26 | Administrative Management College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38BDF8"/>
                </a:solidFill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