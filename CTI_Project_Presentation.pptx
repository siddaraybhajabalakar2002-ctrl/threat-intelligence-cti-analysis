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54864" cy="6858000"/>
          </a:xfrm>
          <a:prstGeom prst="rect">
            <a:avLst/>
          </a:prstGeom>
          <a:solidFill>
            <a:srgbClr val="00B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430000" cy="1097280"/>
          </a:xfrm>
          <a:prstGeom prst="rect">
            <a:avLst/>
          </a:prstGeom>
          <a:noFill/>
        </p:spPr>
        <p:txBody>
          <a:bodyPr wrap="square">
            <a:spAutoFit/>
          </a:bodyPr>
          <a:lstStyle/>
          <a:p>
            <a:pPr algn="l"/>
            <a:r>
              <a:rPr sz="3600" b="1">
                <a:solidFill>
                  <a:srgbClr val="00BCF2"/>
                </a:solidFill>
              </a:rPr>
              <a:t>Cyber Threat Intelligence</a:t>
            </a:r>
          </a:p>
        </p:txBody>
      </p:sp>
      <p:sp>
        <p:nvSpPr>
          <p:cNvPr id="5" name="TextBox 4"/>
          <p:cNvSpPr txBox="1"/>
          <p:nvPr/>
        </p:nvSpPr>
        <p:spPr>
          <a:xfrm>
            <a:off x="457200" y="1828800"/>
            <a:ext cx="11430000" cy="914400"/>
          </a:xfrm>
          <a:prstGeom prst="rect">
            <a:avLst/>
          </a:prstGeom>
          <a:noFill/>
        </p:spPr>
        <p:txBody>
          <a:bodyPr wrap="square">
            <a:spAutoFit/>
          </a:bodyPr>
          <a:lstStyle/>
          <a:p>
            <a:pPr algn="l"/>
            <a:r>
              <a:rPr sz="3200" b="1">
                <a:solidFill>
                  <a:srgbClr val="FFFFFF"/>
                </a:solidFill>
              </a:rPr>
              <a:t>Using Pipeline, NLP and LLM</a:t>
            </a:r>
          </a:p>
        </p:txBody>
      </p:sp>
      <p:sp>
        <p:nvSpPr>
          <p:cNvPr id="6" name="Rectangle 5"/>
          <p:cNvSpPr/>
          <p:nvPr/>
        </p:nvSpPr>
        <p:spPr>
          <a:xfrm>
            <a:off x="457200" y="2834640"/>
            <a:ext cx="5486400" cy="54864"/>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017520"/>
            <a:ext cx="10972800" cy="457200"/>
          </a:xfrm>
          <a:prstGeom prst="rect">
            <a:avLst/>
          </a:prstGeom>
          <a:noFill/>
        </p:spPr>
        <p:txBody>
          <a:bodyPr wrap="square">
            <a:spAutoFit/>
          </a:bodyPr>
          <a:lstStyle/>
          <a:p>
            <a:pPr algn="l"/>
            <a:r>
              <a:rPr sz="1600" b="0">
                <a:solidFill>
                  <a:srgbClr val="D9E8F5"/>
                </a:solidFill>
              </a:rPr>
              <a:t>A Project Presentation for HOD Approval</a:t>
            </a:r>
          </a:p>
        </p:txBody>
      </p:sp>
      <p:sp>
        <p:nvSpPr>
          <p:cNvPr id="8" name="Rectangle 7"/>
          <p:cNvSpPr/>
          <p:nvPr/>
        </p:nvSpPr>
        <p:spPr>
          <a:xfrm>
            <a:off x="457200" y="4023360"/>
            <a:ext cx="5486400" cy="1463040"/>
          </a:xfrm>
          <a:prstGeom prst="rect">
            <a:avLst/>
          </a:prstGeom>
          <a:solidFill>
            <a:srgbClr val="132A45"/>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06240"/>
            <a:ext cx="5029200" cy="457200"/>
          </a:xfrm>
          <a:prstGeom prst="rect">
            <a:avLst/>
          </a:prstGeom>
          <a:noFill/>
        </p:spPr>
        <p:txBody>
          <a:bodyPr wrap="square">
            <a:spAutoFit/>
          </a:bodyPr>
          <a:lstStyle/>
          <a:p>
            <a:pPr algn="l"/>
            <a:r>
              <a:rPr sz="1500" b="1">
                <a:solidFill>
                  <a:srgbClr val="FFFFFF"/>
                </a:solidFill>
              </a:rPr>
              <a:t>Presented by:  Siddaray Bhajabalakar</a:t>
            </a:r>
          </a:p>
        </p:txBody>
      </p:sp>
      <p:sp>
        <p:nvSpPr>
          <p:cNvPr id="10" name="TextBox 9"/>
          <p:cNvSpPr txBox="1"/>
          <p:nvPr/>
        </p:nvSpPr>
        <p:spPr>
          <a:xfrm>
            <a:off x="640080" y="4572000"/>
            <a:ext cx="5029200" cy="365760"/>
          </a:xfrm>
          <a:prstGeom prst="rect">
            <a:avLst/>
          </a:prstGeom>
          <a:noFill/>
        </p:spPr>
        <p:txBody>
          <a:bodyPr wrap="square">
            <a:spAutoFit/>
          </a:bodyPr>
          <a:lstStyle/>
          <a:p>
            <a:pPr algn="l"/>
            <a:r>
              <a:rPr sz="1400" b="0">
                <a:solidFill>
                  <a:srgbClr val="D9E8F5"/>
                </a:solidFill>
              </a:rPr>
              <a:t>Reg No:  P03AC24S126056</a:t>
            </a:r>
          </a:p>
        </p:txBody>
      </p:sp>
      <p:sp>
        <p:nvSpPr>
          <p:cNvPr id="11" name="TextBox 10"/>
          <p:cNvSpPr txBox="1"/>
          <p:nvPr/>
        </p:nvSpPr>
        <p:spPr>
          <a:xfrm>
            <a:off x="640080" y="4892040"/>
            <a:ext cx="5029200" cy="365760"/>
          </a:xfrm>
          <a:prstGeom prst="rect">
            <a:avLst/>
          </a:prstGeom>
          <a:noFill/>
        </p:spPr>
        <p:txBody>
          <a:bodyPr wrap="square">
            <a:spAutoFit/>
          </a:bodyPr>
          <a:lstStyle/>
          <a:p>
            <a:pPr algn="l"/>
            <a:r>
              <a:rPr sz="1300" b="0">
                <a:solidFill>
                  <a:srgbClr val="D9E8F5"/>
                </a:solidFill>
              </a:rPr>
              <a:t>Department of Computer Science</a:t>
            </a:r>
          </a:p>
        </p:txBody>
      </p:sp>
      <p:sp>
        <p:nvSpPr>
          <p:cNvPr id="12" name="Rectangle 11"/>
          <p:cNvSpPr/>
          <p:nvPr/>
        </p:nvSpPr>
        <p:spPr>
          <a:xfrm>
            <a:off x="9144000" y="5029200"/>
            <a:ext cx="283464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5303520"/>
            <a:ext cx="2286000" cy="731520"/>
          </a:xfrm>
          <a:prstGeom prst="rect">
            <a:avLst/>
          </a:prstGeom>
          <a:noFill/>
        </p:spPr>
        <p:txBody>
          <a:bodyPr wrap="square">
            <a:spAutoFit/>
          </a:bodyPr>
          <a:lstStyle/>
          <a:p>
            <a:pPr algn="ctr"/>
            <a:r>
              <a:rPr sz="2800" b="1">
                <a:solidFill>
                  <a:srgbClr val="FFFFFF"/>
                </a:solidFill>
              </a:rPr>
              <a:t>2024–25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5FB"/>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Introduction</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Understanding Cyber Threat Intelligence (CTI)</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08760"/>
            <a:ext cx="5303520" cy="2148840"/>
          </a:xfrm>
          <a:prstGeom prst="rect">
            <a:avLst/>
          </a:prstGeom>
          <a:solidFill>
            <a:srgbClr val="0D1B2A"/>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18488"/>
            <a:ext cx="5029200" cy="411480"/>
          </a:xfrm>
          <a:prstGeom prst="rect">
            <a:avLst/>
          </a:prstGeom>
          <a:noFill/>
        </p:spPr>
        <p:txBody>
          <a:bodyPr wrap="square">
            <a:spAutoFit/>
          </a:bodyPr>
          <a:lstStyle/>
          <a:p>
            <a:pPr algn="l"/>
            <a:r>
              <a:rPr sz="1400" b="1">
                <a:solidFill>
                  <a:srgbClr val="00BCF2"/>
                </a:solidFill>
              </a:rPr>
              <a:t>What is CTI?</a:t>
            </a:r>
          </a:p>
        </p:txBody>
      </p:sp>
      <p:sp>
        <p:nvSpPr>
          <p:cNvPr id="8" name="TextBox 7"/>
          <p:cNvSpPr txBox="1"/>
          <p:nvPr/>
        </p:nvSpPr>
        <p:spPr>
          <a:xfrm>
            <a:off x="457200" y="2011680"/>
            <a:ext cx="5029200" cy="1554480"/>
          </a:xfrm>
          <a:prstGeom prst="rect">
            <a:avLst/>
          </a:prstGeom>
          <a:noFill/>
        </p:spPr>
        <p:txBody>
          <a:bodyPr wrap="square">
            <a:spAutoFit/>
          </a:bodyPr>
          <a:lstStyle/>
          <a:p>
            <a:pPr algn="l"/>
            <a:r>
              <a:rPr sz="1200" b="0">
                <a:solidFill>
                  <a:srgbClr val="FFFFFF"/>
                </a:solidFill>
              </a:rPr>
              <a:t>Cyber Threat Intelligence (CTI) is structured, actionable information about cyber threats that helps organisations anticipate, prevent, and respond to attacks.</a:t>
            </a:r>
          </a:p>
        </p:txBody>
      </p:sp>
      <p:sp>
        <p:nvSpPr>
          <p:cNvPr id="9" name="Rectangle 8"/>
          <p:cNvSpPr/>
          <p:nvPr/>
        </p:nvSpPr>
        <p:spPr>
          <a:xfrm>
            <a:off x="5989320" y="1508760"/>
            <a:ext cx="5303520" cy="2148840"/>
          </a:xfrm>
          <a:prstGeom prst="rect">
            <a:avLst/>
          </a:prstGeom>
          <a:solidFill>
            <a:srgbClr val="0D1B2A"/>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618488"/>
            <a:ext cx="5029200" cy="411480"/>
          </a:xfrm>
          <a:prstGeom prst="rect">
            <a:avLst/>
          </a:prstGeom>
          <a:noFill/>
        </p:spPr>
        <p:txBody>
          <a:bodyPr wrap="square">
            <a:spAutoFit/>
          </a:bodyPr>
          <a:lstStyle/>
          <a:p>
            <a:pPr algn="l"/>
            <a:r>
              <a:rPr sz="1400" b="1">
                <a:solidFill>
                  <a:srgbClr val="00BCF2"/>
                </a:solidFill>
              </a:rPr>
              <a:t>Data Sources</a:t>
            </a:r>
          </a:p>
        </p:txBody>
      </p:sp>
      <p:sp>
        <p:nvSpPr>
          <p:cNvPr id="11" name="TextBox 10"/>
          <p:cNvSpPr txBox="1"/>
          <p:nvPr/>
        </p:nvSpPr>
        <p:spPr>
          <a:xfrm>
            <a:off x="6126480" y="2011680"/>
            <a:ext cx="5029200" cy="1554480"/>
          </a:xfrm>
          <a:prstGeom prst="rect">
            <a:avLst/>
          </a:prstGeom>
          <a:noFill/>
        </p:spPr>
        <p:txBody>
          <a:bodyPr wrap="square">
            <a:spAutoFit/>
          </a:bodyPr>
          <a:lstStyle/>
          <a:p>
            <a:pPr algn="l"/>
            <a:r>
              <a:rPr sz="1200" b="0">
                <a:solidFill>
                  <a:srgbClr val="FFFFFF"/>
                </a:solidFill>
              </a:rPr>
              <a:t>CTI comes from incident reports, security blogs, MISP feeds, malware advisories, and the MITRE ATT&amp;CK knowledge base — mostly in unstructured text form.</a:t>
            </a:r>
          </a:p>
        </p:txBody>
      </p:sp>
      <p:sp>
        <p:nvSpPr>
          <p:cNvPr id="12" name="Rectangle 11"/>
          <p:cNvSpPr/>
          <p:nvPr/>
        </p:nvSpPr>
        <p:spPr>
          <a:xfrm>
            <a:off x="320040" y="3794760"/>
            <a:ext cx="5303520" cy="2148840"/>
          </a:xfrm>
          <a:prstGeom prst="rect">
            <a:avLst/>
          </a:prstGeom>
          <a:solidFill>
            <a:srgbClr val="0D1B2A"/>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904488"/>
            <a:ext cx="5029200" cy="411480"/>
          </a:xfrm>
          <a:prstGeom prst="rect">
            <a:avLst/>
          </a:prstGeom>
          <a:noFill/>
        </p:spPr>
        <p:txBody>
          <a:bodyPr wrap="square">
            <a:spAutoFit/>
          </a:bodyPr>
          <a:lstStyle/>
          <a:p>
            <a:pPr algn="l"/>
            <a:r>
              <a:rPr sz="1400" b="1">
                <a:solidFill>
                  <a:srgbClr val="00BCF2"/>
                </a:solidFill>
              </a:rPr>
              <a:t>The Human Bottleneck</a:t>
            </a:r>
          </a:p>
        </p:txBody>
      </p:sp>
      <p:sp>
        <p:nvSpPr>
          <p:cNvPr id="14" name="TextBox 13"/>
          <p:cNvSpPr txBox="1"/>
          <p:nvPr/>
        </p:nvSpPr>
        <p:spPr>
          <a:xfrm>
            <a:off x="457200" y="4297680"/>
            <a:ext cx="5029200" cy="1554480"/>
          </a:xfrm>
          <a:prstGeom prst="rect">
            <a:avLst/>
          </a:prstGeom>
          <a:noFill/>
        </p:spPr>
        <p:txBody>
          <a:bodyPr wrap="square">
            <a:spAutoFit/>
          </a:bodyPr>
          <a:lstStyle/>
          <a:p>
            <a:pPr algn="l"/>
            <a:r>
              <a:rPr sz="1200" b="0">
                <a:solidFill>
                  <a:srgbClr val="FFFFFF"/>
                </a:solidFill>
              </a:rPr>
              <a:t>Security analysts manually read thousands of pages to extract IOCs and identify attacker behaviour — a slow, error-prone, and unscalable process.</a:t>
            </a:r>
          </a:p>
        </p:txBody>
      </p:sp>
      <p:sp>
        <p:nvSpPr>
          <p:cNvPr id="15" name="Rectangle 14"/>
          <p:cNvSpPr/>
          <p:nvPr/>
        </p:nvSpPr>
        <p:spPr>
          <a:xfrm>
            <a:off x="5989320" y="3794760"/>
            <a:ext cx="5303520" cy="2148840"/>
          </a:xfrm>
          <a:prstGeom prst="rect">
            <a:avLst/>
          </a:prstGeom>
          <a:solidFill>
            <a:srgbClr val="0D1B2A"/>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3904488"/>
            <a:ext cx="5029200" cy="411480"/>
          </a:xfrm>
          <a:prstGeom prst="rect">
            <a:avLst/>
          </a:prstGeom>
          <a:noFill/>
        </p:spPr>
        <p:txBody>
          <a:bodyPr wrap="square">
            <a:spAutoFit/>
          </a:bodyPr>
          <a:lstStyle/>
          <a:p>
            <a:pPr algn="l"/>
            <a:r>
              <a:rPr sz="1400" b="1">
                <a:solidFill>
                  <a:srgbClr val="00BCF2"/>
                </a:solidFill>
              </a:rPr>
              <a:t>The Opportunity</a:t>
            </a:r>
          </a:p>
        </p:txBody>
      </p:sp>
      <p:sp>
        <p:nvSpPr>
          <p:cNvPr id="17" name="TextBox 16"/>
          <p:cNvSpPr txBox="1"/>
          <p:nvPr/>
        </p:nvSpPr>
        <p:spPr>
          <a:xfrm>
            <a:off x="6126480" y="4297680"/>
            <a:ext cx="5029200" cy="1554480"/>
          </a:xfrm>
          <a:prstGeom prst="rect">
            <a:avLst/>
          </a:prstGeom>
          <a:noFill/>
        </p:spPr>
        <p:txBody>
          <a:bodyPr wrap="square">
            <a:spAutoFit/>
          </a:bodyPr>
          <a:lstStyle/>
          <a:p>
            <a:pPr algn="l"/>
            <a:r>
              <a:rPr sz="1200" b="0">
                <a:solidFill>
                  <a:srgbClr val="FFFFFF"/>
                </a:solidFill>
              </a:rPr>
              <a:t>NLP and LLM technologies can automate this extraction, classify attacker techniques, and structure intelligence into a queryable Knowledge Graph.</a:t>
            </a:r>
          </a:p>
        </p:txBody>
      </p:sp>
      <p:sp>
        <p:nvSpPr>
          <p:cNvPr id="18" name="Rectangle 17"/>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5FB"/>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Problem Statement</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Core challenges driving this project</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73152" cy="77724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81328"/>
            <a:ext cx="3657600" cy="347472"/>
          </a:xfrm>
          <a:prstGeom prst="rect">
            <a:avLst/>
          </a:prstGeom>
          <a:noFill/>
        </p:spPr>
        <p:txBody>
          <a:bodyPr wrap="square">
            <a:spAutoFit/>
          </a:bodyPr>
          <a:lstStyle/>
          <a:p>
            <a:pPr algn="l"/>
            <a:r>
              <a:rPr sz="1300" b="1">
                <a:solidFill>
                  <a:srgbClr val="0D1B2A"/>
                </a:solidFill>
              </a:rPr>
              <a:t>Unstructured Data Overload</a:t>
            </a:r>
          </a:p>
        </p:txBody>
      </p:sp>
      <p:sp>
        <p:nvSpPr>
          <p:cNvPr id="8" name="TextBox 7"/>
          <p:cNvSpPr txBox="1"/>
          <p:nvPr/>
        </p:nvSpPr>
        <p:spPr>
          <a:xfrm>
            <a:off x="502920" y="1828800"/>
            <a:ext cx="11338560" cy="457200"/>
          </a:xfrm>
          <a:prstGeom prst="rect">
            <a:avLst/>
          </a:prstGeom>
          <a:noFill/>
        </p:spPr>
        <p:txBody>
          <a:bodyPr wrap="square">
            <a:spAutoFit/>
          </a:bodyPr>
          <a:lstStyle/>
          <a:p>
            <a:pPr algn="l"/>
            <a:r>
              <a:rPr sz="1200" b="0">
                <a:solidFill>
                  <a:srgbClr val="222222"/>
                </a:solidFill>
              </a:rPr>
              <a:t>Critical threat intelligence is buried in unstructured text (blogs, advisories, reports). Automated systems cannot act on free-form text directly.</a:t>
            </a:r>
          </a:p>
        </p:txBody>
      </p:sp>
      <p:sp>
        <p:nvSpPr>
          <p:cNvPr id="9" name="Rectangle 8"/>
          <p:cNvSpPr/>
          <p:nvPr/>
        </p:nvSpPr>
        <p:spPr>
          <a:xfrm>
            <a:off x="274320" y="2432304"/>
            <a:ext cx="73152" cy="77724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450592"/>
            <a:ext cx="3657600" cy="347472"/>
          </a:xfrm>
          <a:prstGeom prst="rect">
            <a:avLst/>
          </a:prstGeom>
          <a:noFill/>
        </p:spPr>
        <p:txBody>
          <a:bodyPr wrap="square">
            <a:spAutoFit/>
          </a:bodyPr>
          <a:lstStyle/>
          <a:p>
            <a:pPr algn="l"/>
            <a:r>
              <a:rPr sz="1300" b="1">
                <a:solidFill>
                  <a:srgbClr val="0D1B2A"/>
                </a:solidFill>
              </a:rPr>
              <a:t>Massive Manual Effort</a:t>
            </a:r>
          </a:p>
        </p:txBody>
      </p:sp>
      <p:sp>
        <p:nvSpPr>
          <p:cNvPr id="11" name="TextBox 10"/>
          <p:cNvSpPr txBox="1"/>
          <p:nvPr/>
        </p:nvSpPr>
        <p:spPr>
          <a:xfrm>
            <a:off x="502920" y="2798064"/>
            <a:ext cx="11338560" cy="457200"/>
          </a:xfrm>
          <a:prstGeom prst="rect">
            <a:avLst/>
          </a:prstGeom>
          <a:noFill/>
        </p:spPr>
        <p:txBody>
          <a:bodyPr wrap="square">
            <a:spAutoFit/>
          </a:bodyPr>
          <a:lstStyle/>
          <a:p>
            <a:pPr algn="l"/>
            <a:r>
              <a:rPr sz="1200" b="0">
                <a:solidFill>
                  <a:srgbClr val="222222"/>
                </a:solidFill>
              </a:rPr>
              <a:t>Extracting IOCs — IP addresses, file hashes, domain names, CVEs — and identifying threat-actor relationships requires hundreds of analyst hours per week.</a:t>
            </a:r>
          </a:p>
        </p:txBody>
      </p:sp>
      <p:sp>
        <p:nvSpPr>
          <p:cNvPr id="12" name="Rectangle 11"/>
          <p:cNvSpPr/>
          <p:nvPr/>
        </p:nvSpPr>
        <p:spPr>
          <a:xfrm>
            <a:off x="274320" y="3401568"/>
            <a:ext cx="73152" cy="77724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419856"/>
            <a:ext cx="3657600" cy="347472"/>
          </a:xfrm>
          <a:prstGeom prst="rect">
            <a:avLst/>
          </a:prstGeom>
          <a:noFill/>
        </p:spPr>
        <p:txBody>
          <a:bodyPr wrap="square">
            <a:spAutoFit/>
          </a:bodyPr>
          <a:lstStyle/>
          <a:p>
            <a:pPr algn="l"/>
            <a:r>
              <a:rPr sz="1300" b="1">
                <a:solidFill>
                  <a:srgbClr val="0D1B2A"/>
                </a:solidFill>
              </a:rPr>
              <a:t>Inconsistent ATT&amp;CK Mapping</a:t>
            </a:r>
          </a:p>
        </p:txBody>
      </p:sp>
      <p:sp>
        <p:nvSpPr>
          <p:cNvPr id="14" name="TextBox 13"/>
          <p:cNvSpPr txBox="1"/>
          <p:nvPr/>
        </p:nvSpPr>
        <p:spPr>
          <a:xfrm>
            <a:off x="502920" y="3767328"/>
            <a:ext cx="11338560" cy="457200"/>
          </a:xfrm>
          <a:prstGeom prst="rect">
            <a:avLst/>
          </a:prstGeom>
          <a:noFill/>
        </p:spPr>
        <p:txBody>
          <a:bodyPr wrap="square">
            <a:spAutoFit/>
          </a:bodyPr>
          <a:lstStyle/>
          <a:p>
            <a:pPr algn="l"/>
            <a:r>
              <a:rPr sz="1200" b="0">
                <a:solidFill>
                  <a:srgbClr val="222222"/>
                </a:solidFill>
              </a:rPr>
              <a:t>Mapping observed attacker behaviour to the MITRE ATT&amp;CK framework is expert-dependent, inconsistent, and prone to human error under pressure.</a:t>
            </a:r>
          </a:p>
        </p:txBody>
      </p:sp>
      <p:sp>
        <p:nvSpPr>
          <p:cNvPr id="15" name="Rectangle 14"/>
          <p:cNvSpPr/>
          <p:nvPr/>
        </p:nvSpPr>
        <p:spPr>
          <a:xfrm>
            <a:off x="274320" y="4370832"/>
            <a:ext cx="73152" cy="77724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389120"/>
            <a:ext cx="3657600" cy="347472"/>
          </a:xfrm>
          <a:prstGeom prst="rect">
            <a:avLst/>
          </a:prstGeom>
          <a:noFill/>
        </p:spPr>
        <p:txBody>
          <a:bodyPr wrap="square">
            <a:spAutoFit/>
          </a:bodyPr>
          <a:lstStyle/>
          <a:p>
            <a:pPr algn="l"/>
            <a:r>
              <a:rPr sz="1300" b="1">
                <a:solidFill>
                  <a:srgbClr val="0D1B2A"/>
                </a:solidFill>
              </a:rPr>
              <a:t>Siloed, Disconnected Intelligence</a:t>
            </a:r>
          </a:p>
        </p:txBody>
      </p:sp>
      <p:sp>
        <p:nvSpPr>
          <p:cNvPr id="17" name="TextBox 16"/>
          <p:cNvSpPr txBox="1"/>
          <p:nvPr/>
        </p:nvSpPr>
        <p:spPr>
          <a:xfrm>
            <a:off x="502920" y="4736592"/>
            <a:ext cx="11338560" cy="457200"/>
          </a:xfrm>
          <a:prstGeom prst="rect">
            <a:avLst/>
          </a:prstGeom>
          <a:noFill/>
        </p:spPr>
        <p:txBody>
          <a:bodyPr wrap="square">
            <a:spAutoFit/>
          </a:bodyPr>
          <a:lstStyle/>
          <a:p>
            <a:pPr algn="l"/>
            <a:r>
              <a:rPr sz="1200" b="0">
                <a:solidFill>
                  <a:srgbClr val="222222"/>
                </a:solidFill>
              </a:rPr>
              <a:t>Threat data exists in isolation. Without a structured relationship model, analysts cannot discover hidden links between actors, malware, and vulnerabilities.</a:t>
            </a:r>
          </a:p>
        </p:txBody>
      </p:sp>
      <p:sp>
        <p:nvSpPr>
          <p:cNvPr id="18" name="Rectangle 17"/>
          <p:cNvSpPr/>
          <p:nvPr/>
        </p:nvSpPr>
        <p:spPr>
          <a:xfrm>
            <a:off x="274320" y="5340096"/>
            <a:ext cx="73152" cy="77724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358384"/>
            <a:ext cx="3657600" cy="347472"/>
          </a:xfrm>
          <a:prstGeom prst="rect">
            <a:avLst/>
          </a:prstGeom>
          <a:noFill/>
        </p:spPr>
        <p:txBody>
          <a:bodyPr wrap="square">
            <a:spAutoFit/>
          </a:bodyPr>
          <a:lstStyle/>
          <a:p>
            <a:pPr algn="l"/>
            <a:r>
              <a:rPr sz="1300" b="1">
                <a:solidFill>
                  <a:srgbClr val="0D1B2A"/>
                </a:solidFill>
              </a:rPr>
              <a:t>Delayed Threat Response</a:t>
            </a:r>
          </a:p>
        </p:txBody>
      </p:sp>
      <p:sp>
        <p:nvSpPr>
          <p:cNvPr id="20" name="TextBox 19"/>
          <p:cNvSpPr txBox="1"/>
          <p:nvPr/>
        </p:nvSpPr>
        <p:spPr>
          <a:xfrm>
            <a:off x="502920" y="5705856"/>
            <a:ext cx="11338560" cy="457200"/>
          </a:xfrm>
          <a:prstGeom prst="rect">
            <a:avLst/>
          </a:prstGeom>
          <a:noFill/>
        </p:spPr>
        <p:txBody>
          <a:bodyPr wrap="square">
            <a:spAutoFit/>
          </a:bodyPr>
          <a:lstStyle/>
          <a:p>
            <a:pPr algn="l"/>
            <a:r>
              <a:rPr sz="1200" b="0">
                <a:solidFill>
                  <a:srgbClr val="222222"/>
                </a:solidFill>
              </a:rPr>
              <a:t>Manual workflows mean threats are often fully understood only after damage has been done. Speed of intelligence processing directly impacts incident response time.</a:t>
            </a:r>
          </a:p>
        </p:txBody>
      </p:sp>
      <p:sp>
        <p:nvSpPr>
          <p:cNvPr id="21" name="Rectangle 20"/>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Aim of the Project</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The overarching goal</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63040"/>
            <a:ext cx="11247120" cy="2011680"/>
          </a:xfrm>
          <a:prstGeom prst="rect">
            <a:avLst/>
          </a:prstGeom>
          <a:solidFill>
            <a:srgbClr val="132A45"/>
          </a:solidFill>
          <a:ln w="25400">
            <a:solidFill>
              <a:srgbClr val="00B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10789920" cy="1737360"/>
          </a:xfrm>
          <a:prstGeom prst="rect">
            <a:avLst/>
          </a:prstGeom>
          <a:noFill/>
        </p:spPr>
        <p:txBody>
          <a:bodyPr wrap="square">
            <a:spAutoFit/>
          </a:bodyPr>
          <a:lstStyle/>
          <a:p>
            <a:pPr algn="l"/>
            <a:r>
              <a:rPr sz="1500" b="0">
                <a:solidFill>
                  <a:srgbClr val="FFFFFF"/>
                </a:solidFill>
              </a:rPr>
              <a:t>To design and implement an automated, end-to-end Cyber Threat Intelligence analysis pipeline that leverages Natural Language Processing (NLP) and Large Language Models (LLMs) to ingest unstructured CTI reports, automatically extract threat entities and relationships, map them to the MITRE ATT&amp;CK framework, and construct a queryable Knowledge Graph — enabling faster, more accurate, and consistent threat intelligence for cybersecurity teams.</a:t>
            </a:r>
          </a:p>
        </p:txBody>
      </p:sp>
      <p:sp>
        <p:nvSpPr>
          <p:cNvPr id="8" name="Rectangle 7"/>
          <p:cNvSpPr/>
          <p:nvPr/>
        </p:nvSpPr>
        <p:spPr>
          <a:xfrm>
            <a:off x="457200" y="3749039"/>
            <a:ext cx="2560320"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749039"/>
            <a:ext cx="2560320" cy="914400"/>
          </a:xfrm>
          <a:prstGeom prst="rect">
            <a:avLst/>
          </a:prstGeom>
          <a:noFill/>
        </p:spPr>
        <p:txBody>
          <a:bodyPr wrap="square">
            <a:spAutoFit/>
          </a:bodyPr>
          <a:lstStyle/>
          <a:p>
            <a:pPr algn="ctr"/>
            <a:r>
              <a:rPr sz="2000" b="1">
                <a:solidFill>
                  <a:srgbClr val="0D1B2A"/>
                </a:solidFill>
              </a:rPr>
              <a:t>Automation</a:t>
            </a:r>
          </a:p>
        </p:txBody>
      </p:sp>
      <p:sp>
        <p:nvSpPr>
          <p:cNvPr id="10" name="Rectangle 9"/>
          <p:cNvSpPr/>
          <p:nvPr/>
        </p:nvSpPr>
        <p:spPr>
          <a:xfrm>
            <a:off x="3383280" y="3749039"/>
            <a:ext cx="2560320" cy="914400"/>
          </a:xfrm>
          <a:prstGeom prst="rect">
            <a:avLst/>
          </a:prstGeom>
          <a:solidFill>
            <a:srgbClr val="00B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3749039"/>
            <a:ext cx="2560320" cy="914400"/>
          </a:xfrm>
          <a:prstGeom prst="rect">
            <a:avLst/>
          </a:prstGeom>
          <a:noFill/>
        </p:spPr>
        <p:txBody>
          <a:bodyPr wrap="square">
            <a:spAutoFit/>
          </a:bodyPr>
          <a:lstStyle/>
          <a:p>
            <a:pPr algn="ctr"/>
            <a:r>
              <a:rPr sz="2000" b="1">
                <a:solidFill>
                  <a:srgbClr val="0D1B2A"/>
                </a:solidFill>
              </a:rPr>
              <a:t>Accuracy</a:t>
            </a:r>
          </a:p>
        </p:txBody>
      </p:sp>
      <p:sp>
        <p:nvSpPr>
          <p:cNvPr id="12" name="Rectangle 11"/>
          <p:cNvSpPr/>
          <p:nvPr/>
        </p:nvSpPr>
        <p:spPr>
          <a:xfrm>
            <a:off x="6309360" y="3749039"/>
            <a:ext cx="2560320" cy="91440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749039"/>
            <a:ext cx="2560320" cy="914400"/>
          </a:xfrm>
          <a:prstGeom prst="rect">
            <a:avLst/>
          </a:prstGeom>
          <a:noFill/>
        </p:spPr>
        <p:txBody>
          <a:bodyPr wrap="square">
            <a:spAutoFit/>
          </a:bodyPr>
          <a:lstStyle/>
          <a:p>
            <a:pPr algn="ctr"/>
            <a:r>
              <a:rPr sz="2000" b="1">
                <a:solidFill>
                  <a:srgbClr val="0D1B2A"/>
                </a:solidFill>
              </a:rPr>
              <a:t>Speed</a:t>
            </a:r>
          </a:p>
        </p:txBody>
      </p:sp>
      <p:sp>
        <p:nvSpPr>
          <p:cNvPr id="14" name="Rectangle 13"/>
          <p:cNvSpPr/>
          <p:nvPr/>
        </p:nvSpPr>
        <p:spPr>
          <a:xfrm>
            <a:off x="9235440" y="3749039"/>
            <a:ext cx="2560320" cy="914400"/>
          </a:xfrm>
          <a:prstGeom prst="rect">
            <a:avLst/>
          </a:prstGeom>
          <a:solidFill>
            <a:srgbClr val="6BD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3749039"/>
            <a:ext cx="2560320" cy="914400"/>
          </a:xfrm>
          <a:prstGeom prst="rect">
            <a:avLst/>
          </a:prstGeom>
          <a:noFill/>
        </p:spPr>
        <p:txBody>
          <a:bodyPr wrap="square">
            <a:spAutoFit/>
          </a:bodyPr>
          <a:lstStyle/>
          <a:p>
            <a:pPr algn="ctr"/>
            <a:r>
              <a:rPr sz="2000" b="1">
                <a:solidFill>
                  <a:srgbClr val="0D1B2A"/>
                </a:solidFill>
              </a:rPr>
              <a:t>Scalability</a:t>
            </a:r>
          </a:p>
        </p:txBody>
      </p:sp>
      <p:sp>
        <p:nvSpPr>
          <p:cNvPr id="16" name="Rectangle 15"/>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5FB"/>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Objectives of the Project</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Six specific, measurable goals</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463040"/>
            <a:ext cx="5486400" cy="164592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463040"/>
            <a:ext cx="50292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965960"/>
            <a:ext cx="502920" cy="594360"/>
          </a:xfrm>
          <a:prstGeom prst="rect">
            <a:avLst/>
          </a:prstGeom>
          <a:noFill/>
        </p:spPr>
        <p:txBody>
          <a:bodyPr wrap="square">
            <a:spAutoFit/>
          </a:bodyPr>
          <a:lstStyle/>
          <a:p>
            <a:pPr algn="ctr"/>
            <a:r>
              <a:rPr sz="1500" b="1">
                <a:solidFill>
                  <a:srgbClr val="FFFFFF"/>
                </a:solidFill>
              </a:rPr>
              <a:t>01</a:t>
            </a:r>
          </a:p>
        </p:txBody>
      </p:sp>
      <p:sp>
        <p:nvSpPr>
          <p:cNvPr id="9" name="TextBox 8"/>
          <p:cNvSpPr txBox="1"/>
          <p:nvPr/>
        </p:nvSpPr>
        <p:spPr>
          <a:xfrm>
            <a:off x="822960" y="1536192"/>
            <a:ext cx="4800600" cy="384048"/>
          </a:xfrm>
          <a:prstGeom prst="rect">
            <a:avLst/>
          </a:prstGeom>
          <a:noFill/>
        </p:spPr>
        <p:txBody>
          <a:bodyPr wrap="square">
            <a:spAutoFit/>
          </a:bodyPr>
          <a:lstStyle/>
          <a:p>
            <a:pPr algn="l"/>
            <a:r>
              <a:rPr sz="1300" b="1">
                <a:solidFill>
                  <a:srgbClr val="0D1B2A"/>
                </a:solidFill>
              </a:rPr>
              <a:t>Automated IOC Extraction</a:t>
            </a:r>
          </a:p>
        </p:txBody>
      </p:sp>
      <p:sp>
        <p:nvSpPr>
          <p:cNvPr id="10" name="TextBox 9"/>
          <p:cNvSpPr txBox="1"/>
          <p:nvPr/>
        </p:nvSpPr>
        <p:spPr>
          <a:xfrm>
            <a:off x="822960" y="1901952"/>
            <a:ext cx="4800600" cy="1097280"/>
          </a:xfrm>
          <a:prstGeom prst="rect">
            <a:avLst/>
          </a:prstGeom>
          <a:noFill/>
        </p:spPr>
        <p:txBody>
          <a:bodyPr wrap="square">
            <a:spAutoFit/>
          </a:bodyPr>
          <a:lstStyle/>
          <a:p>
            <a:pPr algn="l"/>
            <a:r>
              <a:rPr sz="1100" b="0">
                <a:solidFill>
                  <a:srgbClr val="333333"/>
                </a:solidFill>
              </a:rPr>
              <a:t>Develop a regex + NLP Named Entity Recogniser (NER) to extract IPs, domains, file hashes (MD5/SHA1/SHA256), CVEs, registry keys, and scheduled tasks.</a:t>
            </a:r>
          </a:p>
        </p:txBody>
      </p:sp>
      <p:sp>
        <p:nvSpPr>
          <p:cNvPr id="11" name="Rectangle 10"/>
          <p:cNvSpPr/>
          <p:nvPr/>
        </p:nvSpPr>
        <p:spPr>
          <a:xfrm>
            <a:off x="6035040" y="1463040"/>
            <a:ext cx="5486400" cy="164592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1463040"/>
            <a:ext cx="50292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1965960"/>
            <a:ext cx="502920" cy="594360"/>
          </a:xfrm>
          <a:prstGeom prst="rect">
            <a:avLst/>
          </a:prstGeom>
          <a:noFill/>
        </p:spPr>
        <p:txBody>
          <a:bodyPr wrap="square">
            <a:spAutoFit/>
          </a:bodyPr>
          <a:lstStyle/>
          <a:p>
            <a:pPr algn="ctr"/>
            <a:r>
              <a:rPr sz="1500" b="1">
                <a:solidFill>
                  <a:srgbClr val="FFFFFF"/>
                </a:solidFill>
              </a:rPr>
              <a:t>02</a:t>
            </a:r>
          </a:p>
        </p:txBody>
      </p:sp>
      <p:sp>
        <p:nvSpPr>
          <p:cNvPr id="14" name="TextBox 13"/>
          <p:cNvSpPr txBox="1"/>
          <p:nvPr/>
        </p:nvSpPr>
        <p:spPr>
          <a:xfrm>
            <a:off x="6629400" y="1536192"/>
            <a:ext cx="4800600" cy="384048"/>
          </a:xfrm>
          <a:prstGeom prst="rect">
            <a:avLst/>
          </a:prstGeom>
          <a:noFill/>
        </p:spPr>
        <p:txBody>
          <a:bodyPr wrap="square">
            <a:spAutoFit/>
          </a:bodyPr>
          <a:lstStyle/>
          <a:p>
            <a:pPr algn="l"/>
            <a:r>
              <a:rPr sz="1300" b="1">
                <a:solidFill>
                  <a:srgbClr val="0D1B2A"/>
                </a:solidFill>
              </a:rPr>
              <a:t>MITRE ATT&amp;CK Classification</a:t>
            </a:r>
          </a:p>
        </p:txBody>
      </p:sp>
      <p:sp>
        <p:nvSpPr>
          <p:cNvPr id="15" name="TextBox 14"/>
          <p:cNvSpPr txBox="1"/>
          <p:nvPr/>
        </p:nvSpPr>
        <p:spPr>
          <a:xfrm>
            <a:off x="6629400" y="1901952"/>
            <a:ext cx="4800600" cy="1097280"/>
          </a:xfrm>
          <a:prstGeom prst="rect">
            <a:avLst/>
          </a:prstGeom>
          <a:noFill/>
        </p:spPr>
        <p:txBody>
          <a:bodyPr wrap="square">
            <a:spAutoFit/>
          </a:bodyPr>
          <a:lstStyle/>
          <a:p>
            <a:pPr algn="l"/>
            <a:r>
              <a:rPr sz="1100" b="0">
                <a:solidFill>
                  <a:srgbClr val="333333"/>
                </a:solidFill>
              </a:rPr>
              <a:t>Build a tagger that maps free-text descriptions to 100+ ATT&amp;CK Techniques (e.g. T1059) and Tactics (e.g. TA0001 Initial Access) using keyword &amp; semantic analysis.</a:t>
            </a:r>
          </a:p>
        </p:txBody>
      </p:sp>
      <p:sp>
        <p:nvSpPr>
          <p:cNvPr id="16" name="Rectangle 15"/>
          <p:cNvSpPr/>
          <p:nvPr/>
        </p:nvSpPr>
        <p:spPr>
          <a:xfrm>
            <a:off x="228600" y="3218688"/>
            <a:ext cx="5486400" cy="164592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218688"/>
            <a:ext cx="50292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3721608"/>
            <a:ext cx="502920" cy="594360"/>
          </a:xfrm>
          <a:prstGeom prst="rect">
            <a:avLst/>
          </a:prstGeom>
          <a:noFill/>
        </p:spPr>
        <p:txBody>
          <a:bodyPr wrap="square">
            <a:spAutoFit/>
          </a:bodyPr>
          <a:lstStyle/>
          <a:p>
            <a:pPr algn="ctr"/>
            <a:r>
              <a:rPr sz="1500" b="1">
                <a:solidFill>
                  <a:srgbClr val="FFFFFF"/>
                </a:solidFill>
              </a:rPr>
              <a:t>03</a:t>
            </a:r>
          </a:p>
        </p:txBody>
      </p:sp>
      <p:sp>
        <p:nvSpPr>
          <p:cNvPr id="19" name="TextBox 18"/>
          <p:cNvSpPr txBox="1"/>
          <p:nvPr/>
        </p:nvSpPr>
        <p:spPr>
          <a:xfrm>
            <a:off x="822960" y="3291840"/>
            <a:ext cx="4800600" cy="384048"/>
          </a:xfrm>
          <a:prstGeom prst="rect">
            <a:avLst/>
          </a:prstGeom>
          <a:noFill/>
        </p:spPr>
        <p:txBody>
          <a:bodyPr wrap="square">
            <a:spAutoFit/>
          </a:bodyPr>
          <a:lstStyle/>
          <a:p>
            <a:pPr algn="l"/>
            <a:r>
              <a:rPr sz="1300" b="1">
                <a:solidFill>
                  <a:srgbClr val="0D1B2A"/>
                </a:solidFill>
              </a:rPr>
              <a:t>Relation Extraction</a:t>
            </a:r>
          </a:p>
        </p:txBody>
      </p:sp>
      <p:sp>
        <p:nvSpPr>
          <p:cNvPr id="20" name="TextBox 19"/>
          <p:cNvSpPr txBox="1"/>
          <p:nvPr/>
        </p:nvSpPr>
        <p:spPr>
          <a:xfrm>
            <a:off x="822960" y="3657600"/>
            <a:ext cx="4800600" cy="1097280"/>
          </a:xfrm>
          <a:prstGeom prst="rect">
            <a:avLst/>
          </a:prstGeom>
          <a:noFill/>
        </p:spPr>
        <p:txBody>
          <a:bodyPr wrap="square">
            <a:spAutoFit/>
          </a:bodyPr>
          <a:lstStyle/>
          <a:p>
            <a:pPr algn="l"/>
            <a:r>
              <a:rPr sz="1100" b="0">
                <a:solidFill>
                  <a:srgbClr val="333333"/>
                </a:solidFill>
              </a:rPr>
              <a:t>Identify and extract semantic relationships: Actor→uses→Malware, Malware→communicates_with→IP, Actor→targets→Sector, Malware→exploits→CVE.</a:t>
            </a:r>
          </a:p>
        </p:txBody>
      </p:sp>
      <p:sp>
        <p:nvSpPr>
          <p:cNvPr id="21" name="Rectangle 20"/>
          <p:cNvSpPr/>
          <p:nvPr/>
        </p:nvSpPr>
        <p:spPr>
          <a:xfrm>
            <a:off x="6035040" y="3218688"/>
            <a:ext cx="5486400" cy="164592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40" y="3218688"/>
            <a:ext cx="50292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0" y="3721608"/>
            <a:ext cx="502920" cy="594360"/>
          </a:xfrm>
          <a:prstGeom prst="rect">
            <a:avLst/>
          </a:prstGeom>
          <a:noFill/>
        </p:spPr>
        <p:txBody>
          <a:bodyPr wrap="square">
            <a:spAutoFit/>
          </a:bodyPr>
          <a:lstStyle/>
          <a:p>
            <a:pPr algn="ctr"/>
            <a:r>
              <a:rPr sz="1500" b="1">
                <a:solidFill>
                  <a:srgbClr val="FFFFFF"/>
                </a:solidFill>
              </a:rPr>
              <a:t>04</a:t>
            </a:r>
          </a:p>
        </p:txBody>
      </p:sp>
      <p:sp>
        <p:nvSpPr>
          <p:cNvPr id="24" name="TextBox 23"/>
          <p:cNvSpPr txBox="1"/>
          <p:nvPr/>
        </p:nvSpPr>
        <p:spPr>
          <a:xfrm>
            <a:off x="6629400" y="3291840"/>
            <a:ext cx="4800600" cy="384048"/>
          </a:xfrm>
          <a:prstGeom prst="rect">
            <a:avLst/>
          </a:prstGeom>
          <a:noFill/>
        </p:spPr>
        <p:txBody>
          <a:bodyPr wrap="square">
            <a:spAutoFit/>
          </a:bodyPr>
          <a:lstStyle/>
          <a:p>
            <a:pPr algn="l"/>
            <a:r>
              <a:rPr sz="1300" b="1">
                <a:solidFill>
                  <a:srgbClr val="0D1B2A"/>
                </a:solidFill>
              </a:rPr>
              <a:t>Knowledge Graph Construction</a:t>
            </a:r>
          </a:p>
        </p:txBody>
      </p:sp>
      <p:sp>
        <p:nvSpPr>
          <p:cNvPr id="25" name="TextBox 24"/>
          <p:cNvSpPr txBox="1"/>
          <p:nvPr/>
        </p:nvSpPr>
        <p:spPr>
          <a:xfrm>
            <a:off x="6629400" y="3657600"/>
            <a:ext cx="4800600" cy="1097280"/>
          </a:xfrm>
          <a:prstGeom prst="rect">
            <a:avLst/>
          </a:prstGeom>
          <a:noFill/>
        </p:spPr>
        <p:txBody>
          <a:bodyPr wrap="square">
            <a:spAutoFit/>
          </a:bodyPr>
          <a:lstStyle/>
          <a:p>
            <a:pPr algn="l"/>
            <a:r>
              <a:rPr sz="1100" b="0">
                <a:solidFill>
                  <a:srgbClr val="333333"/>
                </a:solidFill>
              </a:rPr>
              <a:t>Build a directed, weighted graph (NetworkX) where nodes are entities and edges are labelled relationships with confidence scores for querying and pathfinding.</a:t>
            </a:r>
          </a:p>
        </p:txBody>
      </p:sp>
      <p:sp>
        <p:nvSpPr>
          <p:cNvPr id="26" name="Rectangle 25"/>
          <p:cNvSpPr/>
          <p:nvPr/>
        </p:nvSpPr>
        <p:spPr>
          <a:xfrm>
            <a:off x="228600" y="4974336"/>
            <a:ext cx="5486400" cy="164592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4974336"/>
            <a:ext cx="50292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600" y="5477256"/>
            <a:ext cx="502920" cy="594360"/>
          </a:xfrm>
          <a:prstGeom prst="rect">
            <a:avLst/>
          </a:prstGeom>
          <a:noFill/>
        </p:spPr>
        <p:txBody>
          <a:bodyPr wrap="square">
            <a:spAutoFit/>
          </a:bodyPr>
          <a:lstStyle/>
          <a:p>
            <a:pPr algn="ctr"/>
            <a:r>
              <a:rPr sz="1500" b="1">
                <a:solidFill>
                  <a:srgbClr val="FFFFFF"/>
                </a:solidFill>
              </a:rPr>
              <a:t>05</a:t>
            </a:r>
          </a:p>
        </p:txBody>
      </p:sp>
      <p:sp>
        <p:nvSpPr>
          <p:cNvPr id="29" name="TextBox 28"/>
          <p:cNvSpPr txBox="1"/>
          <p:nvPr/>
        </p:nvSpPr>
        <p:spPr>
          <a:xfrm>
            <a:off x="822960" y="5047488"/>
            <a:ext cx="4800600" cy="384048"/>
          </a:xfrm>
          <a:prstGeom prst="rect">
            <a:avLst/>
          </a:prstGeom>
          <a:noFill/>
        </p:spPr>
        <p:txBody>
          <a:bodyPr wrap="square">
            <a:spAutoFit/>
          </a:bodyPr>
          <a:lstStyle/>
          <a:p>
            <a:pPr algn="l"/>
            <a:r>
              <a:rPr sz="1300" b="1">
                <a:solidFill>
                  <a:srgbClr val="0D1B2A"/>
                </a:solidFill>
              </a:rPr>
              <a:t>Threat Severity Scoring</a:t>
            </a:r>
          </a:p>
        </p:txBody>
      </p:sp>
      <p:sp>
        <p:nvSpPr>
          <p:cNvPr id="30" name="TextBox 29"/>
          <p:cNvSpPr txBox="1"/>
          <p:nvPr/>
        </p:nvSpPr>
        <p:spPr>
          <a:xfrm>
            <a:off x="822960" y="5413248"/>
            <a:ext cx="4800600" cy="1097280"/>
          </a:xfrm>
          <a:prstGeom prst="rect">
            <a:avLst/>
          </a:prstGeom>
          <a:noFill/>
        </p:spPr>
        <p:txBody>
          <a:bodyPr wrap="square">
            <a:spAutoFit/>
          </a:bodyPr>
          <a:lstStyle/>
          <a:p>
            <a:pPr algn="l"/>
            <a:r>
              <a:rPr sz="1100" b="0">
                <a:solidFill>
                  <a:srgbClr val="333333"/>
                </a:solidFill>
              </a:rPr>
              <a:t>Calculate a normalised 0–10 severity score based on entity type weights and MITRE Tactic weights (e.g. Exfiltration = 20, Initial Access = 5).</a:t>
            </a:r>
          </a:p>
        </p:txBody>
      </p:sp>
      <p:sp>
        <p:nvSpPr>
          <p:cNvPr id="31" name="Rectangle 30"/>
          <p:cNvSpPr/>
          <p:nvPr/>
        </p:nvSpPr>
        <p:spPr>
          <a:xfrm>
            <a:off x="6035040" y="4974336"/>
            <a:ext cx="5486400" cy="164592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35040" y="4974336"/>
            <a:ext cx="502920" cy="1645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0" y="5477256"/>
            <a:ext cx="502920" cy="594360"/>
          </a:xfrm>
          <a:prstGeom prst="rect">
            <a:avLst/>
          </a:prstGeom>
          <a:noFill/>
        </p:spPr>
        <p:txBody>
          <a:bodyPr wrap="square">
            <a:spAutoFit/>
          </a:bodyPr>
          <a:lstStyle/>
          <a:p>
            <a:pPr algn="ctr"/>
            <a:r>
              <a:rPr sz="1500" b="1">
                <a:solidFill>
                  <a:srgbClr val="FFFFFF"/>
                </a:solidFill>
              </a:rPr>
              <a:t>06</a:t>
            </a:r>
          </a:p>
        </p:txBody>
      </p:sp>
      <p:sp>
        <p:nvSpPr>
          <p:cNvPr id="34" name="TextBox 33"/>
          <p:cNvSpPr txBox="1"/>
          <p:nvPr/>
        </p:nvSpPr>
        <p:spPr>
          <a:xfrm>
            <a:off x="6629400" y="5047488"/>
            <a:ext cx="4800600" cy="384048"/>
          </a:xfrm>
          <a:prstGeom prst="rect">
            <a:avLst/>
          </a:prstGeom>
          <a:noFill/>
        </p:spPr>
        <p:txBody>
          <a:bodyPr wrap="square">
            <a:spAutoFit/>
          </a:bodyPr>
          <a:lstStyle/>
          <a:p>
            <a:pPr algn="l"/>
            <a:r>
              <a:rPr sz="1300" b="1">
                <a:solidFill>
                  <a:srgbClr val="0D1B2A"/>
                </a:solidFill>
              </a:rPr>
              <a:t>RESTful API &amp; LLM Integration</a:t>
            </a:r>
          </a:p>
        </p:txBody>
      </p:sp>
      <p:sp>
        <p:nvSpPr>
          <p:cNvPr id="35" name="TextBox 34"/>
          <p:cNvSpPr txBox="1"/>
          <p:nvPr/>
        </p:nvSpPr>
        <p:spPr>
          <a:xfrm>
            <a:off x="6629400" y="5413248"/>
            <a:ext cx="4800600" cy="1097280"/>
          </a:xfrm>
          <a:prstGeom prst="rect">
            <a:avLst/>
          </a:prstGeom>
          <a:noFill/>
        </p:spPr>
        <p:txBody>
          <a:bodyPr wrap="square">
            <a:spAutoFit/>
          </a:bodyPr>
          <a:lstStyle/>
          <a:p>
            <a:pPr algn="l"/>
            <a:r>
              <a:rPr sz="1100" b="0">
                <a:solidFill>
                  <a:srgbClr val="333333"/>
                </a:solidFill>
              </a:rPr>
              <a:t>Expose the pipeline via Flask API endpoints (/analyze, /analyze/file, /knowledge_graph/statistics) and integrate LLMs for report summarisation and Q&amp;A.</a:t>
            </a:r>
          </a:p>
        </p:txBody>
      </p:sp>
      <p:sp>
        <p:nvSpPr>
          <p:cNvPr id="36" name="Rectangle 35"/>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Scope of the Project</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What is and is not covered</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394960" cy="4846320"/>
          </a:xfrm>
          <a:prstGeom prst="rect">
            <a:avLst/>
          </a:prstGeom>
          <a:solidFill>
            <a:srgbClr val="0A253D"/>
          </a:solidFill>
          <a:ln w="19050">
            <a:solidFill>
              <a:srgbClr val="00B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5029200" cy="411480"/>
          </a:xfrm>
          <a:prstGeom prst="rect">
            <a:avLst/>
          </a:prstGeom>
          <a:noFill/>
        </p:spPr>
        <p:txBody>
          <a:bodyPr wrap="square">
            <a:spAutoFit/>
          </a:bodyPr>
          <a:lstStyle/>
          <a:p>
            <a:pPr algn="l"/>
            <a:r>
              <a:rPr sz="1500" b="1">
                <a:solidFill>
                  <a:srgbClr val="00BCF2"/>
                </a:solidFill>
              </a:rPr>
              <a:t>✔  IN SCOPE</a:t>
            </a:r>
          </a:p>
        </p:txBody>
      </p:sp>
      <p:sp>
        <p:nvSpPr>
          <p:cNvPr id="8" name="TextBox 7"/>
          <p:cNvSpPr txBox="1"/>
          <p:nvPr/>
        </p:nvSpPr>
        <p:spPr>
          <a:xfrm>
            <a:off x="457200" y="2011680"/>
            <a:ext cx="5029200" cy="4114800"/>
          </a:xfrm>
          <a:prstGeom prst="rect">
            <a:avLst/>
          </a:prstGeom>
          <a:noFill/>
        </p:spPr>
        <p:txBody>
          <a:bodyPr wrap="square">
            <a:spAutoFit/>
          </a:bodyPr>
          <a:lstStyle/>
          <a:p>
            <a:pPr>
              <a:spcBef>
                <a:spcPts val="600"/>
              </a:spcBef>
            </a:pPr>
            <a:r>
              <a:rPr sz="1200">
                <a:solidFill>
                  <a:srgbClr val="FFFFFF"/>
                </a:solidFill>
              </a:rPr>
              <a:t>▸  Processing English-language CTI reports (text &amp; PDF)</a:t>
            </a:r>
          </a:p>
          <a:p>
            <a:pPr>
              <a:spcBef>
                <a:spcPts val="600"/>
              </a:spcBef>
            </a:pPr>
            <a:r>
              <a:rPr sz="1200">
                <a:solidFill>
                  <a:srgbClr val="FFFFFF"/>
                </a:solidFill>
              </a:rPr>
              <a:t>▸  Extraction of IPs, domains, hashes, CVEs, registry keys, malware names, and threat actors</a:t>
            </a:r>
          </a:p>
          <a:p>
            <a:pPr>
              <a:spcBef>
                <a:spcPts val="600"/>
              </a:spcBef>
            </a:pPr>
            <a:r>
              <a:rPr sz="1200">
                <a:solidFill>
                  <a:srgbClr val="FFFFFF"/>
                </a:solidFill>
              </a:rPr>
              <a:t>▸  MITRE ATT&amp;CK Technique &amp; Tactic tagging (100+ techniques)</a:t>
            </a:r>
          </a:p>
          <a:p>
            <a:pPr>
              <a:spcBef>
                <a:spcPts val="600"/>
              </a:spcBef>
            </a:pPr>
            <a:r>
              <a:rPr sz="1200">
                <a:solidFill>
                  <a:srgbClr val="FFFFFF"/>
                </a:solidFill>
              </a:rPr>
              <a:t>▸  Relationship extraction between threat entities</a:t>
            </a:r>
          </a:p>
          <a:p>
            <a:pPr>
              <a:spcBef>
                <a:spcPts val="600"/>
              </a:spcBef>
            </a:pPr>
            <a:r>
              <a:rPr sz="1200">
                <a:solidFill>
                  <a:srgbClr val="FFFFFF"/>
                </a:solidFill>
              </a:rPr>
              <a:t>▸  Knowledge Graph construction with confidence-scored edges</a:t>
            </a:r>
          </a:p>
          <a:p>
            <a:pPr>
              <a:spcBef>
                <a:spcPts val="600"/>
              </a:spcBef>
            </a:pPr>
            <a:r>
              <a:rPr sz="1200">
                <a:solidFill>
                  <a:srgbClr val="FFFFFF"/>
                </a:solidFill>
              </a:rPr>
              <a:t>▸  Threat severity scoring (0–10 scale, 4 levels)</a:t>
            </a:r>
          </a:p>
          <a:p>
            <a:pPr>
              <a:spcBef>
                <a:spcPts val="600"/>
              </a:spcBef>
            </a:pPr>
            <a:r>
              <a:rPr sz="1200">
                <a:solidFill>
                  <a:srgbClr val="FFFFFF"/>
                </a:solidFill>
              </a:rPr>
              <a:t>▸  REST API for integration with SIEM/SOC tools</a:t>
            </a:r>
          </a:p>
          <a:p>
            <a:pPr>
              <a:spcBef>
                <a:spcPts val="600"/>
              </a:spcBef>
            </a:pPr>
            <a:r>
              <a:rPr sz="1200">
                <a:solidFill>
                  <a:srgbClr val="FFFFFF"/>
                </a:solidFill>
              </a:rPr>
              <a:t>▸  LLM-based summarisation and Q&amp;A interface</a:t>
            </a:r>
          </a:p>
        </p:txBody>
      </p:sp>
      <p:sp>
        <p:nvSpPr>
          <p:cNvPr id="9" name="Rectangle 8"/>
          <p:cNvSpPr/>
          <p:nvPr/>
        </p:nvSpPr>
        <p:spPr>
          <a:xfrm>
            <a:off x="5943600" y="1463040"/>
            <a:ext cx="5943600" cy="4846320"/>
          </a:xfrm>
          <a:prstGeom prst="rect">
            <a:avLst/>
          </a:prstGeom>
          <a:solidFill>
            <a:srgbClr val="2D0A0A"/>
          </a:solidFill>
          <a:ln w="19050">
            <a:solidFill>
              <a:srgbClr val="FFC0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508760"/>
            <a:ext cx="5486400" cy="411480"/>
          </a:xfrm>
          <a:prstGeom prst="rect">
            <a:avLst/>
          </a:prstGeom>
          <a:noFill/>
        </p:spPr>
        <p:txBody>
          <a:bodyPr wrap="square">
            <a:spAutoFit/>
          </a:bodyPr>
          <a:lstStyle/>
          <a:p>
            <a:pPr algn="l"/>
            <a:r>
              <a:rPr sz="1500" b="1">
                <a:solidFill>
                  <a:srgbClr val="FFC00D"/>
                </a:solidFill>
              </a:rPr>
              <a:t>✖  OUT OF SCOPE</a:t>
            </a:r>
          </a:p>
        </p:txBody>
      </p:sp>
      <p:sp>
        <p:nvSpPr>
          <p:cNvPr id="11" name="TextBox 10"/>
          <p:cNvSpPr txBox="1"/>
          <p:nvPr/>
        </p:nvSpPr>
        <p:spPr>
          <a:xfrm>
            <a:off x="6126480" y="2011680"/>
            <a:ext cx="5577840" cy="4114800"/>
          </a:xfrm>
          <a:prstGeom prst="rect">
            <a:avLst/>
          </a:prstGeom>
          <a:noFill/>
        </p:spPr>
        <p:txBody>
          <a:bodyPr wrap="square">
            <a:spAutoFit/>
          </a:bodyPr>
          <a:lstStyle/>
          <a:p>
            <a:pPr>
              <a:spcBef>
                <a:spcPts val="600"/>
              </a:spcBef>
            </a:pPr>
            <a:r>
              <a:rPr sz="1200">
                <a:solidFill>
                  <a:srgbClr val="FFFFFF"/>
                </a:solidFill>
              </a:rPr>
              <a:t>▸  Non-English CTI reports</a:t>
            </a:r>
          </a:p>
          <a:p>
            <a:pPr>
              <a:spcBef>
                <a:spcPts val="600"/>
              </a:spcBef>
            </a:pPr>
            <a:r>
              <a:rPr sz="1200">
                <a:solidFill>
                  <a:srgbClr val="FFFFFF"/>
                </a:solidFill>
              </a:rPr>
              <a:t>▸  Real-time streaming feed ingestion (future enhancement)</a:t>
            </a:r>
          </a:p>
          <a:p>
            <a:pPr>
              <a:spcBef>
                <a:spcPts val="600"/>
              </a:spcBef>
            </a:pPr>
            <a:r>
              <a:rPr sz="1200">
                <a:solidFill>
                  <a:srgbClr val="FFFFFF"/>
                </a:solidFill>
              </a:rPr>
              <a:t>▸  Full LLM fine-tuning on custom datasets</a:t>
            </a:r>
          </a:p>
          <a:p>
            <a:pPr>
              <a:spcBef>
                <a:spcPts val="600"/>
              </a:spcBef>
            </a:pPr>
            <a:r>
              <a:rPr sz="1200">
                <a:solidFill>
                  <a:srgbClr val="FFFFFF"/>
                </a:solidFill>
              </a:rPr>
              <a:t>▸  Advanced graph visualisation dashboard</a:t>
            </a:r>
          </a:p>
          <a:p>
            <a:pPr>
              <a:spcBef>
                <a:spcPts val="600"/>
              </a:spcBef>
            </a:pPr>
            <a:r>
              <a:rPr sz="1200">
                <a:solidFill>
                  <a:srgbClr val="FFFFFF"/>
                </a:solidFill>
              </a:rPr>
              <a:t>▸  STIX/TAXII protocol integration</a:t>
            </a:r>
          </a:p>
          <a:p>
            <a:pPr>
              <a:spcBef>
                <a:spcPts val="600"/>
              </a:spcBef>
            </a:pPr>
            <a:r>
              <a:rPr sz="1200">
                <a:solidFill>
                  <a:srgbClr val="FFFFFF"/>
                </a:solidFill>
              </a:rPr>
              <a:t>▸  Somatic/cancer mutation data (domain specific)</a:t>
            </a:r>
          </a:p>
        </p:txBody>
      </p:sp>
      <p:sp>
        <p:nvSpPr>
          <p:cNvPr id="12" name="Rectangle 11"/>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5FB"/>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System Architecture</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Four-stage automated pipeline</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2743200" cy="4206240"/>
          </a:xfrm>
          <a:prstGeom prst="rect">
            <a:avLst/>
          </a:prstGeom>
          <a:solidFill>
            <a:srgbClr val="0D1B2A"/>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274320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63040"/>
            <a:ext cx="2743200" cy="502920"/>
          </a:xfrm>
          <a:prstGeom prst="rect">
            <a:avLst/>
          </a:prstGeom>
          <a:noFill/>
        </p:spPr>
        <p:txBody>
          <a:bodyPr wrap="square">
            <a:spAutoFit/>
          </a:bodyPr>
          <a:lstStyle/>
          <a:p>
            <a:pPr algn="ctr"/>
            <a:r>
              <a:rPr sz="1300" b="1">
                <a:solidFill>
                  <a:srgbClr val="0D1B2A"/>
                </a:solidFill>
              </a:rPr>
              <a:t>Stage 1</a:t>
            </a:r>
          </a:p>
        </p:txBody>
      </p:sp>
      <p:sp>
        <p:nvSpPr>
          <p:cNvPr id="9" name="TextBox 8"/>
          <p:cNvSpPr txBox="1"/>
          <p:nvPr/>
        </p:nvSpPr>
        <p:spPr>
          <a:xfrm>
            <a:off x="411480" y="2103120"/>
            <a:ext cx="2468880" cy="822960"/>
          </a:xfrm>
          <a:prstGeom prst="rect">
            <a:avLst/>
          </a:prstGeom>
          <a:noFill/>
        </p:spPr>
        <p:txBody>
          <a:bodyPr wrap="square">
            <a:spAutoFit/>
          </a:bodyPr>
          <a:lstStyle/>
          <a:p>
            <a:pPr algn="l"/>
            <a:r>
              <a:rPr sz="1400" b="1">
                <a:solidFill>
                  <a:srgbClr val="0078D4"/>
                </a:solidFill>
              </a:rPr>
              <a:t>Text Preprocessing
&amp; NER Extraction</a:t>
            </a:r>
          </a:p>
        </p:txBody>
      </p:sp>
      <p:sp>
        <p:nvSpPr>
          <p:cNvPr id="10" name="TextBox 9"/>
          <p:cNvSpPr txBox="1"/>
          <p:nvPr/>
        </p:nvSpPr>
        <p:spPr>
          <a:xfrm>
            <a:off x="411480" y="3017520"/>
            <a:ext cx="2468880" cy="2468880"/>
          </a:xfrm>
          <a:prstGeom prst="rect">
            <a:avLst/>
          </a:prstGeom>
          <a:noFill/>
        </p:spPr>
        <p:txBody>
          <a:bodyPr wrap="square">
            <a:spAutoFit/>
          </a:bodyPr>
          <a:lstStyle/>
          <a:p>
            <a:pPr algn="l"/>
            <a:r>
              <a:rPr sz="1200" b="0">
                <a:solidFill>
                  <a:srgbClr val="FFFFFF"/>
                </a:solidFill>
              </a:rPr>
              <a:t>spaCy + Regex
Extracts IOCs from raw text</a:t>
            </a:r>
          </a:p>
        </p:txBody>
      </p:sp>
      <p:sp>
        <p:nvSpPr>
          <p:cNvPr id="11" name="TextBox 10"/>
          <p:cNvSpPr txBox="1"/>
          <p:nvPr/>
        </p:nvSpPr>
        <p:spPr>
          <a:xfrm>
            <a:off x="3063240" y="3108960"/>
            <a:ext cx="182880" cy="365760"/>
          </a:xfrm>
          <a:prstGeom prst="rect">
            <a:avLst/>
          </a:prstGeom>
          <a:noFill/>
        </p:spPr>
        <p:txBody>
          <a:bodyPr wrap="square">
            <a:spAutoFit/>
          </a:bodyPr>
          <a:lstStyle/>
          <a:p>
            <a:pPr algn="ctr"/>
            <a:r>
              <a:rPr sz="2000" b="1">
                <a:solidFill>
                  <a:srgbClr val="0078D4"/>
                </a:solidFill>
              </a:rPr>
              <a:t>▶</a:t>
            </a:r>
          </a:p>
        </p:txBody>
      </p:sp>
      <p:sp>
        <p:nvSpPr>
          <p:cNvPr id="12" name="Rectangle 11"/>
          <p:cNvSpPr/>
          <p:nvPr/>
        </p:nvSpPr>
        <p:spPr>
          <a:xfrm>
            <a:off x="3246120" y="1463040"/>
            <a:ext cx="2743200" cy="4206240"/>
          </a:xfrm>
          <a:prstGeom prst="rect">
            <a:avLst/>
          </a:prstGeom>
          <a:solidFill>
            <a:srgbClr val="0D1B2A"/>
          </a:solidFill>
          <a:ln w="25400">
            <a:solidFill>
              <a:srgbClr val="00B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463040"/>
            <a:ext cx="2743200" cy="502920"/>
          </a:xfrm>
          <a:prstGeom prst="rect">
            <a:avLst/>
          </a:prstGeom>
          <a:solidFill>
            <a:srgbClr val="00B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1463040"/>
            <a:ext cx="2743200" cy="502920"/>
          </a:xfrm>
          <a:prstGeom prst="rect">
            <a:avLst/>
          </a:prstGeom>
          <a:noFill/>
        </p:spPr>
        <p:txBody>
          <a:bodyPr wrap="square">
            <a:spAutoFit/>
          </a:bodyPr>
          <a:lstStyle/>
          <a:p>
            <a:pPr algn="ctr"/>
            <a:r>
              <a:rPr sz="1300" b="1">
                <a:solidFill>
                  <a:srgbClr val="0D1B2A"/>
                </a:solidFill>
              </a:rPr>
              <a:t>Stage 2</a:t>
            </a:r>
          </a:p>
        </p:txBody>
      </p:sp>
      <p:sp>
        <p:nvSpPr>
          <p:cNvPr id="15" name="TextBox 14"/>
          <p:cNvSpPr txBox="1"/>
          <p:nvPr/>
        </p:nvSpPr>
        <p:spPr>
          <a:xfrm>
            <a:off x="3383280" y="2103120"/>
            <a:ext cx="2468880" cy="822960"/>
          </a:xfrm>
          <a:prstGeom prst="rect">
            <a:avLst/>
          </a:prstGeom>
          <a:noFill/>
        </p:spPr>
        <p:txBody>
          <a:bodyPr wrap="square">
            <a:spAutoFit/>
          </a:bodyPr>
          <a:lstStyle/>
          <a:p>
            <a:pPr algn="l"/>
            <a:r>
              <a:rPr sz="1400" b="1">
                <a:solidFill>
                  <a:srgbClr val="00BCF2"/>
                </a:solidFill>
              </a:rPr>
              <a:t>MITRE ATT&amp;CK
Tagger</a:t>
            </a:r>
          </a:p>
        </p:txBody>
      </p:sp>
      <p:sp>
        <p:nvSpPr>
          <p:cNvPr id="16" name="TextBox 15"/>
          <p:cNvSpPr txBox="1"/>
          <p:nvPr/>
        </p:nvSpPr>
        <p:spPr>
          <a:xfrm>
            <a:off x="3383280" y="3017520"/>
            <a:ext cx="2468880" cy="2468880"/>
          </a:xfrm>
          <a:prstGeom prst="rect">
            <a:avLst/>
          </a:prstGeom>
          <a:noFill/>
        </p:spPr>
        <p:txBody>
          <a:bodyPr wrap="square">
            <a:spAutoFit/>
          </a:bodyPr>
          <a:lstStyle/>
          <a:p>
            <a:pPr algn="l"/>
            <a:r>
              <a:rPr sz="1200" b="0">
                <a:solidFill>
                  <a:srgbClr val="FFFFFF"/>
                </a:solidFill>
              </a:rPr>
              <a:t>Keyword + semantic analysis
100+ techniques mapped</a:t>
            </a:r>
          </a:p>
        </p:txBody>
      </p:sp>
      <p:sp>
        <p:nvSpPr>
          <p:cNvPr id="17" name="TextBox 16"/>
          <p:cNvSpPr txBox="1"/>
          <p:nvPr/>
        </p:nvSpPr>
        <p:spPr>
          <a:xfrm>
            <a:off x="6035040" y="3108960"/>
            <a:ext cx="182880" cy="365760"/>
          </a:xfrm>
          <a:prstGeom prst="rect">
            <a:avLst/>
          </a:prstGeom>
          <a:noFill/>
        </p:spPr>
        <p:txBody>
          <a:bodyPr wrap="square">
            <a:spAutoFit/>
          </a:bodyPr>
          <a:lstStyle/>
          <a:p>
            <a:pPr algn="ctr"/>
            <a:r>
              <a:rPr sz="2000" b="1">
                <a:solidFill>
                  <a:srgbClr val="0078D4"/>
                </a:solidFill>
              </a:rPr>
              <a:t>▶</a:t>
            </a:r>
          </a:p>
        </p:txBody>
      </p:sp>
      <p:sp>
        <p:nvSpPr>
          <p:cNvPr id="18" name="Rectangle 17"/>
          <p:cNvSpPr/>
          <p:nvPr/>
        </p:nvSpPr>
        <p:spPr>
          <a:xfrm>
            <a:off x="6217920" y="1463040"/>
            <a:ext cx="2743200" cy="4206240"/>
          </a:xfrm>
          <a:prstGeom prst="rect">
            <a:avLst/>
          </a:prstGeom>
          <a:solidFill>
            <a:srgbClr val="0D1B2A"/>
          </a:solidFill>
          <a:ln w="25400">
            <a:solidFill>
              <a:srgbClr val="FFC0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463040"/>
            <a:ext cx="2743200" cy="502920"/>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463040"/>
            <a:ext cx="2743200" cy="502920"/>
          </a:xfrm>
          <a:prstGeom prst="rect">
            <a:avLst/>
          </a:prstGeom>
          <a:noFill/>
        </p:spPr>
        <p:txBody>
          <a:bodyPr wrap="square">
            <a:spAutoFit/>
          </a:bodyPr>
          <a:lstStyle/>
          <a:p>
            <a:pPr algn="ctr"/>
            <a:r>
              <a:rPr sz="1300" b="1">
                <a:solidFill>
                  <a:srgbClr val="0D1B2A"/>
                </a:solidFill>
              </a:rPr>
              <a:t>Stage 3</a:t>
            </a:r>
          </a:p>
        </p:txBody>
      </p:sp>
      <p:sp>
        <p:nvSpPr>
          <p:cNvPr id="21" name="TextBox 20"/>
          <p:cNvSpPr txBox="1"/>
          <p:nvPr/>
        </p:nvSpPr>
        <p:spPr>
          <a:xfrm>
            <a:off x="6355080" y="2103120"/>
            <a:ext cx="2468880" cy="822960"/>
          </a:xfrm>
          <a:prstGeom prst="rect">
            <a:avLst/>
          </a:prstGeom>
          <a:noFill/>
        </p:spPr>
        <p:txBody>
          <a:bodyPr wrap="square">
            <a:spAutoFit/>
          </a:bodyPr>
          <a:lstStyle/>
          <a:p>
            <a:pPr algn="l"/>
            <a:r>
              <a:rPr sz="1400" b="1">
                <a:solidFill>
                  <a:srgbClr val="FFC00D"/>
                </a:solidFill>
              </a:rPr>
              <a:t>Knowledge Graph
Construction</a:t>
            </a:r>
          </a:p>
        </p:txBody>
      </p:sp>
      <p:sp>
        <p:nvSpPr>
          <p:cNvPr id="22" name="TextBox 21"/>
          <p:cNvSpPr txBox="1"/>
          <p:nvPr/>
        </p:nvSpPr>
        <p:spPr>
          <a:xfrm>
            <a:off x="6355080" y="3017520"/>
            <a:ext cx="2468880" cy="2468880"/>
          </a:xfrm>
          <a:prstGeom prst="rect">
            <a:avLst/>
          </a:prstGeom>
          <a:noFill/>
        </p:spPr>
        <p:txBody>
          <a:bodyPr wrap="square">
            <a:spAutoFit/>
          </a:bodyPr>
          <a:lstStyle/>
          <a:p>
            <a:pPr algn="l"/>
            <a:r>
              <a:rPr sz="1200" b="0">
                <a:solidFill>
                  <a:srgbClr val="FFFFFF"/>
                </a:solidFill>
              </a:rPr>
              <a:t>NetworkX DiGraph
Nodes, edges, confidence scores</a:t>
            </a:r>
          </a:p>
        </p:txBody>
      </p:sp>
      <p:sp>
        <p:nvSpPr>
          <p:cNvPr id="23" name="TextBox 22"/>
          <p:cNvSpPr txBox="1"/>
          <p:nvPr/>
        </p:nvSpPr>
        <p:spPr>
          <a:xfrm>
            <a:off x="9006840" y="3108960"/>
            <a:ext cx="182880" cy="365760"/>
          </a:xfrm>
          <a:prstGeom prst="rect">
            <a:avLst/>
          </a:prstGeom>
          <a:noFill/>
        </p:spPr>
        <p:txBody>
          <a:bodyPr wrap="square">
            <a:spAutoFit/>
          </a:bodyPr>
          <a:lstStyle/>
          <a:p>
            <a:pPr algn="ctr"/>
            <a:r>
              <a:rPr sz="2000" b="1">
                <a:solidFill>
                  <a:srgbClr val="0078D4"/>
                </a:solidFill>
              </a:rPr>
              <a:t>▶</a:t>
            </a:r>
          </a:p>
        </p:txBody>
      </p:sp>
      <p:sp>
        <p:nvSpPr>
          <p:cNvPr id="24" name="Rectangle 23"/>
          <p:cNvSpPr/>
          <p:nvPr/>
        </p:nvSpPr>
        <p:spPr>
          <a:xfrm>
            <a:off x="9189720" y="1463040"/>
            <a:ext cx="2743200" cy="4206240"/>
          </a:xfrm>
          <a:prstGeom prst="rect">
            <a:avLst/>
          </a:prstGeom>
          <a:solidFill>
            <a:srgbClr val="0D1B2A"/>
          </a:solidFill>
          <a:ln w="25400">
            <a:solidFill>
              <a:srgbClr val="6BD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9720" y="1463040"/>
            <a:ext cx="2743200" cy="502920"/>
          </a:xfrm>
          <a:prstGeom prst="rect">
            <a:avLst/>
          </a:prstGeom>
          <a:solidFill>
            <a:srgbClr val="6BD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1463040"/>
            <a:ext cx="2743200" cy="502920"/>
          </a:xfrm>
          <a:prstGeom prst="rect">
            <a:avLst/>
          </a:prstGeom>
          <a:noFill/>
        </p:spPr>
        <p:txBody>
          <a:bodyPr wrap="square">
            <a:spAutoFit/>
          </a:bodyPr>
          <a:lstStyle/>
          <a:p>
            <a:pPr algn="ctr"/>
            <a:r>
              <a:rPr sz="1300" b="1">
                <a:solidFill>
                  <a:srgbClr val="0D1B2A"/>
                </a:solidFill>
              </a:rPr>
              <a:t>Stage 4</a:t>
            </a:r>
          </a:p>
        </p:txBody>
      </p:sp>
      <p:sp>
        <p:nvSpPr>
          <p:cNvPr id="27" name="TextBox 26"/>
          <p:cNvSpPr txBox="1"/>
          <p:nvPr/>
        </p:nvSpPr>
        <p:spPr>
          <a:xfrm>
            <a:off x="9326880" y="2103120"/>
            <a:ext cx="2468880" cy="822960"/>
          </a:xfrm>
          <a:prstGeom prst="rect">
            <a:avLst/>
          </a:prstGeom>
          <a:noFill/>
        </p:spPr>
        <p:txBody>
          <a:bodyPr wrap="square">
            <a:spAutoFit/>
          </a:bodyPr>
          <a:lstStyle/>
          <a:p>
            <a:pPr algn="l"/>
            <a:r>
              <a:rPr sz="1400" b="1">
                <a:solidFill>
                  <a:srgbClr val="6BD45A"/>
                </a:solidFill>
              </a:rPr>
              <a:t>LLM Interface
&amp; API Layer</a:t>
            </a:r>
          </a:p>
        </p:txBody>
      </p:sp>
      <p:sp>
        <p:nvSpPr>
          <p:cNvPr id="28" name="TextBox 27"/>
          <p:cNvSpPr txBox="1"/>
          <p:nvPr/>
        </p:nvSpPr>
        <p:spPr>
          <a:xfrm>
            <a:off x="9326880" y="3017520"/>
            <a:ext cx="2468880" cy="2468880"/>
          </a:xfrm>
          <a:prstGeom prst="rect">
            <a:avLst/>
          </a:prstGeom>
          <a:noFill/>
        </p:spPr>
        <p:txBody>
          <a:bodyPr wrap="square">
            <a:spAutoFit/>
          </a:bodyPr>
          <a:lstStyle/>
          <a:p>
            <a:pPr algn="l"/>
            <a:r>
              <a:rPr sz="1200" b="0">
                <a:solidFill>
                  <a:srgbClr val="FFFFFF"/>
                </a:solidFill>
              </a:rPr>
              <a:t>Flask REST API
LLM summarisation &amp; Q&amp;A</a:t>
            </a:r>
          </a:p>
        </p:txBody>
      </p:sp>
      <p:sp>
        <p:nvSpPr>
          <p:cNvPr id="29" name="TextBox 28"/>
          <p:cNvSpPr txBox="1"/>
          <p:nvPr/>
        </p:nvSpPr>
        <p:spPr>
          <a:xfrm>
            <a:off x="274320" y="5852160"/>
            <a:ext cx="11704320" cy="457200"/>
          </a:xfrm>
          <a:prstGeom prst="rect">
            <a:avLst/>
          </a:prstGeom>
          <a:noFill/>
        </p:spPr>
        <p:txBody>
          <a:bodyPr wrap="square">
            <a:spAutoFit/>
          </a:bodyPr>
          <a:lstStyle/>
          <a:p>
            <a:pPr algn="ctr"/>
            <a:r>
              <a:rPr sz="1200" b="1">
                <a:solidFill>
                  <a:srgbClr val="0D1B2A"/>
                </a:solidFill>
              </a:rPr>
              <a:t>Input: Raw CTI Report (text / PDF)   →   Output: Entities + ATT&amp;CK Tags + Knowledge Graph + Severity Score</a:t>
            </a:r>
          </a:p>
        </p:txBody>
      </p:sp>
      <p:sp>
        <p:nvSpPr>
          <p:cNvPr id="30" name="Rectangle 29"/>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Technology Stack</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Tools and frameworks used in implementation</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5303520" cy="365760"/>
          </a:xfrm>
          <a:prstGeom prst="rect">
            <a:avLst/>
          </a:prstGeom>
          <a:noFill/>
        </p:spPr>
        <p:txBody>
          <a:bodyPr wrap="square">
            <a:spAutoFit/>
          </a:bodyPr>
          <a:lstStyle/>
          <a:p>
            <a:pPr algn="l"/>
            <a:r>
              <a:rPr sz="1400" b="1">
                <a:solidFill>
                  <a:srgbClr val="00BCF2"/>
                </a:solidFill>
              </a:rPr>
              <a:t>Python 3.10+</a:t>
            </a:r>
          </a:p>
        </p:txBody>
      </p:sp>
      <p:sp>
        <p:nvSpPr>
          <p:cNvPr id="8" name="TextBox 7"/>
          <p:cNvSpPr txBox="1"/>
          <p:nvPr/>
        </p:nvSpPr>
        <p:spPr>
          <a:xfrm>
            <a:off x="411480" y="1901952"/>
            <a:ext cx="5303520" cy="548640"/>
          </a:xfrm>
          <a:prstGeom prst="rect">
            <a:avLst/>
          </a:prstGeom>
          <a:noFill/>
        </p:spPr>
        <p:txBody>
          <a:bodyPr wrap="square">
            <a:spAutoFit/>
          </a:bodyPr>
          <a:lstStyle/>
          <a:p>
            <a:pPr algn="l"/>
            <a:r>
              <a:rPr sz="1200" b="0">
                <a:solidFill>
                  <a:srgbClr val="D9E8F5"/>
                </a:solidFill>
              </a:rPr>
              <a:t>Core implementation language — modules, pipeline orchestration</a:t>
            </a:r>
          </a:p>
        </p:txBody>
      </p:sp>
      <p:sp>
        <p:nvSpPr>
          <p:cNvPr id="9" name="Rectangle 8"/>
          <p:cNvSpPr/>
          <p:nvPr/>
        </p:nvSpPr>
        <p:spPr>
          <a:xfrm>
            <a:off x="6217920" y="1463040"/>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36192"/>
            <a:ext cx="5303520" cy="365760"/>
          </a:xfrm>
          <a:prstGeom prst="rect">
            <a:avLst/>
          </a:prstGeom>
          <a:noFill/>
        </p:spPr>
        <p:txBody>
          <a:bodyPr wrap="square">
            <a:spAutoFit/>
          </a:bodyPr>
          <a:lstStyle/>
          <a:p>
            <a:pPr algn="l"/>
            <a:r>
              <a:rPr sz="1400" b="1">
                <a:solidFill>
                  <a:srgbClr val="00BCF2"/>
                </a:solidFill>
              </a:rPr>
              <a:t>spaCy (en_core_web_sm)</a:t>
            </a:r>
          </a:p>
        </p:txBody>
      </p:sp>
      <p:sp>
        <p:nvSpPr>
          <p:cNvPr id="11" name="TextBox 10"/>
          <p:cNvSpPr txBox="1"/>
          <p:nvPr/>
        </p:nvSpPr>
        <p:spPr>
          <a:xfrm>
            <a:off x="6355080" y="1901952"/>
            <a:ext cx="5303520" cy="548640"/>
          </a:xfrm>
          <a:prstGeom prst="rect">
            <a:avLst/>
          </a:prstGeom>
          <a:noFill/>
        </p:spPr>
        <p:txBody>
          <a:bodyPr wrap="square">
            <a:spAutoFit/>
          </a:bodyPr>
          <a:lstStyle/>
          <a:p>
            <a:pPr algn="l"/>
            <a:r>
              <a:rPr sz="1200" b="0">
                <a:solidFill>
                  <a:srgbClr val="D9E8F5"/>
                </a:solidFill>
              </a:rPr>
              <a:t>NLP engine for Named Entity Recognition (ORG, PERSON, PRODUCT)</a:t>
            </a:r>
          </a:p>
        </p:txBody>
      </p:sp>
      <p:sp>
        <p:nvSpPr>
          <p:cNvPr id="12" name="Rectangle 11"/>
          <p:cNvSpPr/>
          <p:nvPr/>
        </p:nvSpPr>
        <p:spPr>
          <a:xfrm>
            <a:off x="274320" y="2670048"/>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743200"/>
            <a:ext cx="5303520" cy="365760"/>
          </a:xfrm>
          <a:prstGeom prst="rect">
            <a:avLst/>
          </a:prstGeom>
          <a:noFill/>
        </p:spPr>
        <p:txBody>
          <a:bodyPr wrap="square">
            <a:spAutoFit/>
          </a:bodyPr>
          <a:lstStyle/>
          <a:p>
            <a:pPr algn="l"/>
            <a:r>
              <a:rPr sz="1400" b="1">
                <a:solidFill>
                  <a:srgbClr val="00BCF2"/>
                </a:solidFill>
              </a:rPr>
              <a:t>Regular Expressions</a:t>
            </a:r>
          </a:p>
        </p:txBody>
      </p:sp>
      <p:sp>
        <p:nvSpPr>
          <p:cNvPr id="14" name="TextBox 13"/>
          <p:cNvSpPr txBox="1"/>
          <p:nvPr/>
        </p:nvSpPr>
        <p:spPr>
          <a:xfrm>
            <a:off x="411480" y="3108960"/>
            <a:ext cx="5303520" cy="548640"/>
          </a:xfrm>
          <a:prstGeom prst="rect">
            <a:avLst/>
          </a:prstGeom>
          <a:noFill/>
        </p:spPr>
        <p:txBody>
          <a:bodyPr wrap="square">
            <a:spAutoFit/>
          </a:bodyPr>
          <a:lstStyle/>
          <a:p>
            <a:pPr algn="l"/>
            <a:r>
              <a:rPr sz="1200" b="0">
                <a:solidFill>
                  <a:srgbClr val="D9E8F5"/>
                </a:solidFill>
              </a:rPr>
              <a:t>Pattern-based extraction of strict IOC types (IPs, hashes, CVEs)</a:t>
            </a:r>
          </a:p>
        </p:txBody>
      </p:sp>
      <p:sp>
        <p:nvSpPr>
          <p:cNvPr id="15" name="Rectangle 14"/>
          <p:cNvSpPr/>
          <p:nvPr/>
        </p:nvSpPr>
        <p:spPr>
          <a:xfrm>
            <a:off x="6217920" y="2670048"/>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743200"/>
            <a:ext cx="5303520" cy="365760"/>
          </a:xfrm>
          <a:prstGeom prst="rect">
            <a:avLst/>
          </a:prstGeom>
          <a:noFill/>
        </p:spPr>
        <p:txBody>
          <a:bodyPr wrap="square">
            <a:spAutoFit/>
          </a:bodyPr>
          <a:lstStyle/>
          <a:p>
            <a:pPr algn="l"/>
            <a:r>
              <a:rPr sz="1400" b="1">
                <a:solidFill>
                  <a:srgbClr val="00BCF2"/>
                </a:solidFill>
              </a:rPr>
              <a:t>NetworkX</a:t>
            </a:r>
          </a:p>
        </p:txBody>
      </p:sp>
      <p:sp>
        <p:nvSpPr>
          <p:cNvPr id="17" name="TextBox 16"/>
          <p:cNvSpPr txBox="1"/>
          <p:nvPr/>
        </p:nvSpPr>
        <p:spPr>
          <a:xfrm>
            <a:off x="6355080" y="3108960"/>
            <a:ext cx="5303520" cy="548640"/>
          </a:xfrm>
          <a:prstGeom prst="rect">
            <a:avLst/>
          </a:prstGeom>
          <a:noFill/>
        </p:spPr>
        <p:txBody>
          <a:bodyPr wrap="square">
            <a:spAutoFit/>
          </a:bodyPr>
          <a:lstStyle/>
          <a:p>
            <a:pPr algn="l"/>
            <a:r>
              <a:rPr sz="1200" b="0">
                <a:solidFill>
                  <a:srgbClr val="D9E8F5"/>
                </a:solidFill>
              </a:rPr>
              <a:t>Directed graph (DiGraph) for Knowledge Graph construction and traversal</a:t>
            </a:r>
          </a:p>
        </p:txBody>
      </p:sp>
      <p:sp>
        <p:nvSpPr>
          <p:cNvPr id="18" name="Rectangle 17"/>
          <p:cNvSpPr/>
          <p:nvPr/>
        </p:nvSpPr>
        <p:spPr>
          <a:xfrm>
            <a:off x="274320" y="3877056"/>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950208"/>
            <a:ext cx="5303520" cy="365760"/>
          </a:xfrm>
          <a:prstGeom prst="rect">
            <a:avLst/>
          </a:prstGeom>
          <a:noFill/>
        </p:spPr>
        <p:txBody>
          <a:bodyPr wrap="square">
            <a:spAutoFit/>
          </a:bodyPr>
          <a:lstStyle/>
          <a:p>
            <a:pPr algn="l"/>
            <a:r>
              <a:rPr sz="1400" b="1">
                <a:solidFill>
                  <a:srgbClr val="00BCF2"/>
                </a:solidFill>
              </a:rPr>
              <a:t>Flask</a:t>
            </a:r>
          </a:p>
        </p:txBody>
      </p:sp>
      <p:sp>
        <p:nvSpPr>
          <p:cNvPr id="20" name="TextBox 19"/>
          <p:cNvSpPr txBox="1"/>
          <p:nvPr/>
        </p:nvSpPr>
        <p:spPr>
          <a:xfrm>
            <a:off x="411480" y="4315968"/>
            <a:ext cx="5303520" cy="548640"/>
          </a:xfrm>
          <a:prstGeom prst="rect">
            <a:avLst/>
          </a:prstGeom>
          <a:noFill/>
        </p:spPr>
        <p:txBody>
          <a:bodyPr wrap="square">
            <a:spAutoFit/>
          </a:bodyPr>
          <a:lstStyle/>
          <a:p>
            <a:pPr algn="l"/>
            <a:r>
              <a:rPr sz="1200" b="0">
                <a:solidFill>
                  <a:srgbClr val="D9E8F5"/>
                </a:solidFill>
              </a:rPr>
              <a:t>Lightweight REST API framework — /analyze, /analyze/file endpoints</a:t>
            </a:r>
          </a:p>
        </p:txBody>
      </p:sp>
      <p:sp>
        <p:nvSpPr>
          <p:cNvPr id="21" name="Rectangle 20"/>
          <p:cNvSpPr/>
          <p:nvPr/>
        </p:nvSpPr>
        <p:spPr>
          <a:xfrm>
            <a:off x="6217920" y="3877056"/>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3950208"/>
            <a:ext cx="5303520" cy="365760"/>
          </a:xfrm>
          <a:prstGeom prst="rect">
            <a:avLst/>
          </a:prstGeom>
          <a:noFill/>
        </p:spPr>
        <p:txBody>
          <a:bodyPr wrap="square">
            <a:spAutoFit/>
          </a:bodyPr>
          <a:lstStyle/>
          <a:p>
            <a:pPr algn="l"/>
            <a:r>
              <a:rPr sz="1400" b="1">
                <a:solidFill>
                  <a:srgbClr val="00BCF2"/>
                </a:solidFill>
              </a:rPr>
              <a:t>PyPDF2</a:t>
            </a:r>
          </a:p>
        </p:txBody>
      </p:sp>
      <p:sp>
        <p:nvSpPr>
          <p:cNvPr id="23" name="TextBox 22"/>
          <p:cNvSpPr txBox="1"/>
          <p:nvPr/>
        </p:nvSpPr>
        <p:spPr>
          <a:xfrm>
            <a:off x="6355080" y="4315968"/>
            <a:ext cx="5303520" cy="548640"/>
          </a:xfrm>
          <a:prstGeom prst="rect">
            <a:avLst/>
          </a:prstGeom>
          <a:noFill/>
        </p:spPr>
        <p:txBody>
          <a:bodyPr wrap="square">
            <a:spAutoFit/>
          </a:bodyPr>
          <a:lstStyle/>
          <a:p>
            <a:pPr algn="l"/>
            <a:r>
              <a:rPr sz="1200" b="0">
                <a:solidFill>
                  <a:srgbClr val="D9E8F5"/>
                </a:solidFill>
              </a:rPr>
              <a:t>PDF parsing — extracts text from uploaded CTI report PDFs</a:t>
            </a:r>
          </a:p>
        </p:txBody>
      </p:sp>
      <p:sp>
        <p:nvSpPr>
          <p:cNvPr id="24" name="Rectangle 23"/>
          <p:cNvSpPr/>
          <p:nvPr/>
        </p:nvSpPr>
        <p:spPr>
          <a:xfrm>
            <a:off x="274320" y="5084064"/>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5157216"/>
            <a:ext cx="5303520" cy="365760"/>
          </a:xfrm>
          <a:prstGeom prst="rect">
            <a:avLst/>
          </a:prstGeom>
          <a:noFill/>
        </p:spPr>
        <p:txBody>
          <a:bodyPr wrap="square">
            <a:spAutoFit/>
          </a:bodyPr>
          <a:lstStyle/>
          <a:p>
            <a:pPr algn="l"/>
            <a:r>
              <a:rPr sz="1400" b="1">
                <a:solidFill>
                  <a:srgbClr val="00BCF2"/>
                </a:solidFill>
              </a:rPr>
              <a:t>OpenAI API (optional)</a:t>
            </a:r>
          </a:p>
        </p:txBody>
      </p:sp>
      <p:sp>
        <p:nvSpPr>
          <p:cNvPr id="26" name="TextBox 25"/>
          <p:cNvSpPr txBox="1"/>
          <p:nvPr/>
        </p:nvSpPr>
        <p:spPr>
          <a:xfrm>
            <a:off x="411480" y="5522976"/>
            <a:ext cx="5303520" cy="548640"/>
          </a:xfrm>
          <a:prstGeom prst="rect">
            <a:avLst/>
          </a:prstGeom>
          <a:noFill/>
        </p:spPr>
        <p:txBody>
          <a:bodyPr wrap="square">
            <a:spAutoFit/>
          </a:bodyPr>
          <a:lstStyle/>
          <a:p>
            <a:pPr algn="l"/>
            <a:r>
              <a:rPr sz="1200" b="0">
                <a:solidFill>
                  <a:srgbClr val="D9E8F5"/>
                </a:solidFill>
              </a:rPr>
              <a:t>LLM integration for report summarisation, Q&amp;A, brief generation</a:t>
            </a:r>
          </a:p>
        </p:txBody>
      </p:sp>
      <p:sp>
        <p:nvSpPr>
          <p:cNvPr id="27" name="Rectangle 26"/>
          <p:cNvSpPr/>
          <p:nvPr/>
        </p:nvSpPr>
        <p:spPr>
          <a:xfrm>
            <a:off x="6217920" y="5084064"/>
            <a:ext cx="5669280" cy="1097280"/>
          </a:xfrm>
          <a:prstGeom prst="rect">
            <a:avLst/>
          </a:prstGeom>
          <a:solidFill>
            <a:srgbClr val="0D2B4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5157216"/>
            <a:ext cx="5303520" cy="365760"/>
          </a:xfrm>
          <a:prstGeom prst="rect">
            <a:avLst/>
          </a:prstGeom>
          <a:noFill/>
        </p:spPr>
        <p:txBody>
          <a:bodyPr wrap="square">
            <a:spAutoFit/>
          </a:bodyPr>
          <a:lstStyle/>
          <a:p>
            <a:pPr algn="l"/>
            <a:r>
              <a:rPr sz="1400" b="1">
                <a:solidFill>
                  <a:srgbClr val="00BCF2"/>
                </a:solidFill>
              </a:rPr>
              <a:t>Docker</a:t>
            </a:r>
          </a:p>
        </p:txBody>
      </p:sp>
      <p:sp>
        <p:nvSpPr>
          <p:cNvPr id="29" name="TextBox 28"/>
          <p:cNvSpPr txBox="1"/>
          <p:nvPr/>
        </p:nvSpPr>
        <p:spPr>
          <a:xfrm>
            <a:off x="6355080" y="5522976"/>
            <a:ext cx="5303520" cy="548640"/>
          </a:xfrm>
          <a:prstGeom prst="rect">
            <a:avLst/>
          </a:prstGeom>
          <a:noFill/>
        </p:spPr>
        <p:txBody>
          <a:bodyPr wrap="square">
            <a:spAutoFit/>
          </a:bodyPr>
          <a:lstStyle/>
          <a:p>
            <a:pPr algn="l"/>
            <a:r>
              <a:rPr sz="1200" b="0">
                <a:solidFill>
                  <a:srgbClr val="D9E8F5"/>
                </a:solidFill>
              </a:rPr>
              <a:t>Containerised deployment for portability and scalability</a:t>
            </a:r>
          </a:p>
        </p:txBody>
      </p:sp>
      <p:sp>
        <p:nvSpPr>
          <p:cNvPr id="30" name="Rectangle 29"/>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5FB"/>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640080"/>
          </a:xfrm>
          <a:prstGeom prst="rect">
            <a:avLst/>
          </a:prstGeom>
          <a:noFill/>
        </p:spPr>
        <p:txBody>
          <a:bodyPr wrap="square">
            <a:spAutoFit/>
          </a:bodyPr>
          <a:lstStyle/>
          <a:p>
            <a:pPr algn="l"/>
            <a:r>
              <a:rPr sz="2800" b="1">
                <a:solidFill>
                  <a:srgbClr val="00BCF2"/>
                </a:solidFill>
              </a:rPr>
              <a:t>Expected Outcomes &amp; Value Proposition</a:t>
            </a:r>
          </a:p>
        </p:txBody>
      </p:sp>
      <p:sp>
        <p:nvSpPr>
          <p:cNvPr id="4" name="TextBox 3"/>
          <p:cNvSpPr txBox="1"/>
          <p:nvPr/>
        </p:nvSpPr>
        <p:spPr>
          <a:xfrm>
            <a:off x="365760" y="713232"/>
            <a:ext cx="9144000" cy="457200"/>
          </a:xfrm>
          <a:prstGeom prst="rect">
            <a:avLst/>
          </a:prstGeom>
          <a:noFill/>
        </p:spPr>
        <p:txBody>
          <a:bodyPr wrap="square">
            <a:spAutoFit/>
          </a:bodyPr>
          <a:lstStyle/>
          <a:p>
            <a:pPr algn="l"/>
            <a:r>
              <a:rPr sz="1400" b="0">
                <a:solidFill>
                  <a:srgbClr val="D9E8F5"/>
                </a:solidFill>
              </a:rPr>
              <a:t>Why this project matters</a:t>
            </a:r>
          </a:p>
        </p:txBody>
      </p:sp>
      <p:sp>
        <p:nvSpPr>
          <p:cNvPr id="5" name="Rectangle 4"/>
          <p:cNvSpPr/>
          <p:nvPr/>
        </p:nvSpPr>
        <p:spPr>
          <a:xfrm>
            <a:off x="0" y="128016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3749039" cy="2240280"/>
          </a:xfrm>
          <a:prstGeom prst="rect">
            <a:avLst/>
          </a:prstGeom>
          <a:solidFill>
            <a:srgbClr val="FFFF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3749039" cy="43891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99616"/>
            <a:ext cx="3566159" cy="365760"/>
          </a:xfrm>
          <a:prstGeom prst="rect">
            <a:avLst/>
          </a:prstGeom>
          <a:noFill/>
        </p:spPr>
        <p:txBody>
          <a:bodyPr wrap="square">
            <a:spAutoFit/>
          </a:bodyPr>
          <a:lstStyle/>
          <a:p>
            <a:pPr algn="l"/>
            <a:r>
              <a:rPr sz="1300" b="1">
                <a:solidFill>
                  <a:srgbClr val="0D1B2A"/>
                </a:solidFill>
              </a:rPr>
              <a:t>⚡ Speed</a:t>
            </a:r>
          </a:p>
        </p:txBody>
      </p:sp>
      <p:sp>
        <p:nvSpPr>
          <p:cNvPr id="9" name="TextBox 8"/>
          <p:cNvSpPr txBox="1"/>
          <p:nvPr/>
        </p:nvSpPr>
        <p:spPr>
          <a:xfrm>
            <a:off x="365760" y="1965960"/>
            <a:ext cx="3566159" cy="1645920"/>
          </a:xfrm>
          <a:prstGeom prst="rect">
            <a:avLst/>
          </a:prstGeom>
          <a:noFill/>
        </p:spPr>
        <p:txBody>
          <a:bodyPr wrap="square">
            <a:spAutoFit/>
          </a:bodyPr>
          <a:lstStyle/>
          <a:p>
            <a:pPr algn="l"/>
            <a:r>
              <a:rPr sz="1200" b="0">
                <a:solidFill>
                  <a:srgbClr val="222222"/>
                </a:solidFill>
              </a:rPr>
              <a:t>Reduces threat report processing from hours to seconds. Analysts can act on intelligence in near real-time.</a:t>
            </a:r>
          </a:p>
        </p:txBody>
      </p:sp>
      <p:sp>
        <p:nvSpPr>
          <p:cNvPr id="10" name="Rectangle 9"/>
          <p:cNvSpPr/>
          <p:nvPr/>
        </p:nvSpPr>
        <p:spPr>
          <a:xfrm>
            <a:off x="4206239" y="1463040"/>
            <a:ext cx="3749039" cy="2240280"/>
          </a:xfrm>
          <a:prstGeom prst="rect">
            <a:avLst/>
          </a:prstGeom>
          <a:solidFill>
            <a:srgbClr val="FFFFFF"/>
          </a:solidFill>
          <a:ln w="25400">
            <a:solidFill>
              <a:srgbClr val="00B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39" y="1463040"/>
            <a:ext cx="3749039" cy="438912"/>
          </a:xfrm>
          <a:prstGeom prst="rect">
            <a:avLst/>
          </a:prstGeom>
          <a:solidFill>
            <a:srgbClr val="00B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79" y="1499616"/>
            <a:ext cx="3566159" cy="365760"/>
          </a:xfrm>
          <a:prstGeom prst="rect">
            <a:avLst/>
          </a:prstGeom>
          <a:noFill/>
        </p:spPr>
        <p:txBody>
          <a:bodyPr wrap="square">
            <a:spAutoFit/>
          </a:bodyPr>
          <a:lstStyle/>
          <a:p>
            <a:pPr algn="l"/>
            <a:r>
              <a:rPr sz="1300" b="1">
                <a:solidFill>
                  <a:srgbClr val="0D1B2A"/>
                </a:solidFill>
              </a:rPr>
              <a:t>🎯 Accuracy</a:t>
            </a:r>
          </a:p>
        </p:txBody>
      </p:sp>
      <p:sp>
        <p:nvSpPr>
          <p:cNvPr id="13" name="TextBox 12"/>
          <p:cNvSpPr txBox="1"/>
          <p:nvPr/>
        </p:nvSpPr>
        <p:spPr>
          <a:xfrm>
            <a:off x="4297679" y="1965960"/>
            <a:ext cx="3566159" cy="1645920"/>
          </a:xfrm>
          <a:prstGeom prst="rect">
            <a:avLst/>
          </a:prstGeom>
          <a:noFill/>
        </p:spPr>
        <p:txBody>
          <a:bodyPr wrap="square">
            <a:spAutoFit/>
          </a:bodyPr>
          <a:lstStyle/>
          <a:p>
            <a:pPr algn="l"/>
            <a:r>
              <a:rPr sz="1200" b="0">
                <a:solidFill>
                  <a:srgbClr val="222222"/>
                </a:solidFill>
              </a:rPr>
              <a:t>Eliminates manual extraction errors. Regex + NLP achieves consistent, reproducible IOC identification.</a:t>
            </a:r>
          </a:p>
        </p:txBody>
      </p:sp>
      <p:sp>
        <p:nvSpPr>
          <p:cNvPr id="14" name="Rectangle 13"/>
          <p:cNvSpPr/>
          <p:nvPr/>
        </p:nvSpPr>
        <p:spPr>
          <a:xfrm>
            <a:off x="8138158" y="1463040"/>
            <a:ext cx="3749039" cy="2240280"/>
          </a:xfrm>
          <a:prstGeom prst="rect">
            <a:avLst/>
          </a:prstGeom>
          <a:solidFill>
            <a:srgbClr val="FFFFFF"/>
          </a:solidFill>
          <a:ln w="25400">
            <a:solidFill>
              <a:srgbClr val="FFC0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58" y="1463040"/>
            <a:ext cx="3749039" cy="438912"/>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8" y="1499616"/>
            <a:ext cx="3566159" cy="365760"/>
          </a:xfrm>
          <a:prstGeom prst="rect">
            <a:avLst/>
          </a:prstGeom>
          <a:noFill/>
        </p:spPr>
        <p:txBody>
          <a:bodyPr wrap="square">
            <a:spAutoFit/>
          </a:bodyPr>
          <a:lstStyle/>
          <a:p>
            <a:pPr algn="l"/>
            <a:r>
              <a:rPr sz="1300" b="1">
                <a:solidFill>
                  <a:srgbClr val="0D1B2A"/>
                </a:solidFill>
              </a:rPr>
              <a:t>🔗 Connectivity</a:t>
            </a:r>
          </a:p>
        </p:txBody>
      </p:sp>
      <p:sp>
        <p:nvSpPr>
          <p:cNvPr id="17" name="TextBox 16"/>
          <p:cNvSpPr txBox="1"/>
          <p:nvPr/>
        </p:nvSpPr>
        <p:spPr>
          <a:xfrm>
            <a:off x="8229598" y="1965960"/>
            <a:ext cx="3566159" cy="1645920"/>
          </a:xfrm>
          <a:prstGeom prst="rect">
            <a:avLst/>
          </a:prstGeom>
          <a:noFill/>
        </p:spPr>
        <p:txBody>
          <a:bodyPr wrap="square">
            <a:spAutoFit/>
          </a:bodyPr>
          <a:lstStyle/>
          <a:p>
            <a:pPr algn="l"/>
            <a:r>
              <a:rPr sz="1200" b="0">
                <a:solidFill>
                  <a:srgbClr val="222222"/>
                </a:solidFill>
              </a:rPr>
              <a:t>The Knowledge Graph surfaces hidden relationships — e.g. shared C2 infrastructure between two seemingly unrelated APT groups.</a:t>
            </a:r>
          </a:p>
        </p:txBody>
      </p:sp>
      <p:sp>
        <p:nvSpPr>
          <p:cNvPr id="18" name="Rectangle 17"/>
          <p:cNvSpPr/>
          <p:nvPr/>
        </p:nvSpPr>
        <p:spPr>
          <a:xfrm>
            <a:off x="274320" y="3840480"/>
            <a:ext cx="3749039" cy="2240280"/>
          </a:xfrm>
          <a:prstGeom prst="rect">
            <a:avLst/>
          </a:prstGeom>
          <a:solidFill>
            <a:srgbClr val="FFFFFF"/>
          </a:solidFill>
          <a:ln w="25400">
            <a:solidFill>
              <a:srgbClr val="6BD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840480"/>
            <a:ext cx="3749039" cy="438912"/>
          </a:xfrm>
          <a:prstGeom prst="rect">
            <a:avLst/>
          </a:prstGeom>
          <a:solidFill>
            <a:srgbClr val="6BD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877056"/>
            <a:ext cx="3566159" cy="365760"/>
          </a:xfrm>
          <a:prstGeom prst="rect">
            <a:avLst/>
          </a:prstGeom>
          <a:noFill/>
        </p:spPr>
        <p:txBody>
          <a:bodyPr wrap="square">
            <a:spAutoFit/>
          </a:bodyPr>
          <a:lstStyle/>
          <a:p>
            <a:pPr algn="l"/>
            <a:r>
              <a:rPr sz="1300" b="1">
                <a:solidFill>
                  <a:srgbClr val="0D1B2A"/>
                </a:solidFill>
              </a:rPr>
              <a:t>📊 Prioritisation</a:t>
            </a:r>
          </a:p>
        </p:txBody>
      </p:sp>
      <p:sp>
        <p:nvSpPr>
          <p:cNvPr id="21" name="TextBox 20"/>
          <p:cNvSpPr txBox="1"/>
          <p:nvPr/>
        </p:nvSpPr>
        <p:spPr>
          <a:xfrm>
            <a:off x="365760" y="4343400"/>
            <a:ext cx="3566159" cy="1645920"/>
          </a:xfrm>
          <a:prstGeom prst="rect">
            <a:avLst/>
          </a:prstGeom>
          <a:noFill/>
        </p:spPr>
        <p:txBody>
          <a:bodyPr wrap="square">
            <a:spAutoFit/>
          </a:bodyPr>
          <a:lstStyle/>
          <a:p>
            <a:pPr algn="l"/>
            <a:r>
              <a:rPr sz="1200" b="0">
                <a:solidFill>
                  <a:srgbClr val="222222"/>
                </a:solidFill>
              </a:rPr>
              <a:t>Automated severity scoring (0–10) helps SOC teams triage thousands of alerts and focus on CRITICAL threats first.</a:t>
            </a:r>
          </a:p>
        </p:txBody>
      </p:sp>
      <p:sp>
        <p:nvSpPr>
          <p:cNvPr id="22" name="Rectangle 21"/>
          <p:cNvSpPr/>
          <p:nvPr/>
        </p:nvSpPr>
        <p:spPr>
          <a:xfrm>
            <a:off x="4206239" y="3840480"/>
            <a:ext cx="3749039" cy="2240280"/>
          </a:xfrm>
          <a:prstGeom prst="rect">
            <a:avLst/>
          </a:prstGeom>
          <a:solidFill>
            <a:srgbClr val="FFFFFF"/>
          </a:solidFill>
          <a:ln w="25400">
            <a:solidFill>
              <a:srgbClr val="FF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06239" y="3840480"/>
            <a:ext cx="3749039" cy="438912"/>
          </a:xfrm>
          <a:prstGeom prst="rect">
            <a:avLst/>
          </a:prstGeom>
          <a:solidFill>
            <a:srgbClr val="FF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79" y="3877056"/>
            <a:ext cx="3566159" cy="365760"/>
          </a:xfrm>
          <a:prstGeom prst="rect">
            <a:avLst/>
          </a:prstGeom>
          <a:noFill/>
        </p:spPr>
        <p:txBody>
          <a:bodyPr wrap="square">
            <a:spAutoFit/>
          </a:bodyPr>
          <a:lstStyle/>
          <a:p>
            <a:pPr algn="l"/>
            <a:r>
              <a:rPr sz="1300" b="1">
                <a:solidFill>
                  <a:srgbClr val="0D1B2A"/>
                </a:solidFill>
              </a:rPr>
              <a:t>🔒 Proactive Defence</a:t>
            </a:r>
          </a:p>
        </p:txBody>
      </p:sp>
      <p:sp>
        <p:nvSpPr>
          <p:cNvPr id="25" name="TextBox 24"/>
          <p:cNvSpPr txBox="1"/>
          <p:nvPr/>
        </p:nvSpPr>
        <p:spPr>
          <a:xfrm>
            <a:off x="4297679" y="4343400"/>
            <a:ext cx="3566159" cy="1645920"/>
          </a:xfrm>
          <a:prstGeom prst="rect">
            <a:avLst/>
          </a:prstGeom>
          <a:noFill/>
        </p:spPr>
        <p:txBody>
          <a:bodyPr wrap="square">
            <a:spAutoFit/>
          </a:bodyPr>
          <a:lstStyle/>
          <a:p>
            <a:pPr algn="l"/>
            <a:r>
              <a:rPr sz="1200" b="0">
                <a:solidFill>
                  <a:srgbClr val="222222"/>
                </a:solidFill>
              </a:rPr>
              <a:t>By mapping behaviour to ATT&amp;CK, defenders can deploy mitigations before an attack reaches its objective.</a:t>
            </a:r>
          </a:p>
        </p:txBody>
      </p:sp>
      <p:sp>
        <p:nvSpPr>
          <p:cNvPr id="26" name="Rectangle 25"/>
          <p:cNvSpPr/>
          <p:nvPr/>
        </p:nvSpPr>
        <p:spPr>
          <a:xfrm>
            <a:off x="8138158" y="3840480"/>
            <a:ext cx="3749039" cy="2240280"/>
          </a:xfrm>
          <a:prstGeom prst="rect">
            <a:avLst/>
          </a:prstGeom>
          <a:solidFill>
            <a:srgbClr val="FFFFFF"/>
          </a:solidFill>
          <a:ln w="25400">
            <a:solidFill>
              <a:srgbClr val="CC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58" y="3840480"/>
            <a:ext cx="3749039" cy="438912"/>
          </a:xfrm>
          <a:prstGeom prst="rect">
            <a:avLst/>
          </a:prstGeom>
          <a:solidFill>
            <a:srgbClr val="CC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8" y="3877056"/>
            <a:ext cx="3566159" cy="365760"/>
          </a:xfrm>
          <a:prstGeom prst="rect">
            <a:avLst/>
          </a:prstGeom>
          <a:noFill/>
        </p:spPr>
        <p:txBody>
          <a:bodyPr wrap="square">
            <a:spAutoFit/>
          </a:bodyPr>
          <a:lstStyle/>
          <a:p>
            <a:pPr algn="l"/>
            <a:r>
              <a:rPr sz="1300" b="1">
                <a:solidFill>
                  <a:srgbClr val="0D1B2A"/>
                </a:solidFill>
              </a:rPr>
              <a:t>🔌 Integration</a:t>
            </a:r>
          </a:p>
        </p:txBody>
      </p:sp>
      <p:sp>
        <p:nvSpPr>
          <p:cNvPr id="29" name="TextBox 28"/>
          <p:cNvSpPr txBox="1"/>
          <p:nvPr/>
        </p:nvSpPr>
        <p:spPr>
          <a:xfrm>
            <a:off x="8229598" y="4343400"/>
            <a:ext cx="3566159" cy="1645920"/>
          </a:xfrm>
          <a:prstGeom prst="rect">
            <a:avLst/>
          </a:prstGeom>
          <a:noFill/>
        </p:spPr>
        <p:txBody>
          <a:bodyPr wrap="square">
            <a:spAutoFit/>
          </a:bodyPr>
          <a:lstStyle/>
          <a:p>
            <a:pPr algn="l"/>
            <a:r>
              <a:rPr sz="1200" b="0">
                <a:solidFill>
                  <a:srgbClr val="222222"/>
                </a:solidFill>
              </a:rPr>
              <a:t>The Flask REST API allows plug-and-play integration with any SIEM, SOAR, or threat intelligence platform.</a:t>
            </a:r>
          </a:p>
        </p:txBody>
      </p:sp>
      <p:sp>
        <p:nvSpPr>
          <p:cNvPr id="30" name="Rectangle 29"/>
          <p:cNvSpPr/>
          <p:nvPr/>
        </p:nvSpPr>
        <p:spPr>
          <a:xfrm>
            <a:off x="0" y="6492240"/>
            <a:ext cx="12191695"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519672"/>
            <a:ext cx="9144000" cy="320040"/>
          </a:xfrm>
          <a:prstGeom prst="rect">
            <a:avLst/>
          </a:prstGeom>
          <a:noFill/>
        </p:spPr>
        <p:txBody>
          <a:bodyPr wrap="square">
            <a:spAutoFit/>
          </a:bodyPr>
          <a:lstStyle/>
          <a:p>
            <a:pPr algn="l"/>
            <a:r>
              <a:rPr sz="1000" b="0">
                <a:solidFill>
                  <a:srgbClr val="D9E8F5"/>
                </a:solidFill>
              </a:rPr>
              <a:t>Siddaray Bhajabalakar  |  Reg No: P03AC24S126056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54864" cy="6858000"/>
          </a:xfrm>
          <a:prstGeom prst="rect">
            <a:avLst/>
          </a:prstGeom>
          <a:solidFill>
            <a:srgbClr val="00B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1430000" cy="822960"/>
          </a:xfrm>
          <a:prstGeom prst="rect">
            <a:avLst/>
          </a:prstGeom>
          <a:noFill/>
        </p:spPr>
        <p:txBody>
          <a:bodyPr wrap="square">
            <a:spAutoFit/>
          </a:bodyPr>
          <a:lstStyle/>
          <a:p>
            <a:pPr algn="l"/>
            <a:r>
              <a:rPr sz="3000" b="1">
                <a:solidFill>
                  <a:srgbClr val="00BCF2"/>
                </a:solidFill>
              </a:rPr>
              <a:t>Conclusion &amp; Request for Approval</a:t>
            </a:r>
          </a:p>
        </p:txBody>
      </p:sp>
      <p:sp>
        <p:nvSpPr>
          <p:cNvPr id="5" name="Rectangle 4"/>
          <p:cNvSpPr/>
          <p:nvPr/>
        </p:nvSpPr>
        <p:spPr>
          <a:xfrm>
            <a:off x="457200" y="1234440"/>
            <a:ext cx="5943600" cy="54864"/>
          </a:xfrm>
          <a:prstGeom prst="rect">
            <a:avLst/>
          </a:prstGeom>
          <a:solidFill>
            <a:srgbClr val="FFC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8686800" cy="3474720"/>
          </a:xfrm>
          <a:prstGeom prst="rect">
            <a:avLst/>
          </a:prstGeom>
          <a:noFill/>
        </p:spPr>
        <p:txBody>
          <a:bodyPr wrap="square">
            <a:spAutoFit/>
          </a:bodyPr>
          <a:lstStyle/>
          <a:p>
            <a:pPr algn="l"/>
            <a:r>
              <a:rPr sz="1400" b="0">
                <a:solidFill>
                  <a:srgbClr val="FFFFFF"/>
                </a:solidFill>
              </a:rPr>
              <a:t>The CTI Analysis Pipeline project addresses a critical, real-world problem in modern cybersecurity. By combining NLP, LLMs, and graph analytics into a single automated pipeline, this project will:
▸  Save hundreds of analyst hours per week through automation
▸  Improve detection accuracy with consistent, machine-driven IOC extraction
▸  Surface hidden threat relationships via a Knowledge Graph
▸  Align with industry-standard frameworks (MITRE ATT&amp;CK)
▸  Deliver a production-ready REST API for real-world deployment</a:t>
            </a:r>
          </a:p>
        </p:txBody>
      </p:sp>
      <p:sp>
        <p:nvSpPr>
          <p:cNvPr id="7" name="Rectangle 6"/>
          <p:cNvSpPr/>
          <p:nvPr/>
        </p:nvSpPr>
        <p:spPr>
          <a:xfrm>
            <a:off x="457200" y="5074920"/>
            <a:ext cx="8686800" cy="1188720"/>
          </a:xfrm>
          <a:prstGeom prst="rect">
            <a:avLst/>
          </a:prstGeom>
          <a:solidFill>
            <a:srgbClr val="132A45"/>
          </a:solidFill>
          <a:ln w="19050">
            <a:solidFill>
              <a:srgbClr val="00B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166360"/>
            <a:ext cx="8229600" cy="457200"/>
          </a:xfrm>
          <a:prstGeom prst="rect">
            <a:avLst/>
          </a:prstGeom>
          <a:noFill/>
        </p:spPr>
        <p:txBody>
          <a:bodyPr wrap="square">
            <a:spAutoFit/>
          </a:bodyPr>
          <a:lstStyle/>
          <a:p>
            <a:pPr algn="l"/>
            <a:r>
              <a:rPr sz="1500" b="1">
                <a:solidFill>
                  <a:srgbClr val="00BCF2"/>
                </a:solidFill>
              </a:rPr>
              <a:t>We respectfully request HOD approval to proceed with this project.</a:t>
            </a:r>
          </a:p>
        </p:txBody>
      </p:sp>
      <p:sp>
        <p:nvSpPr>
          <p:cNvPr id="9" name="TextBox 8"/>
          <p:cNvSpPr txBox="1"/>
          <p:nvPr/>
        </p:nvSpPr>
        <p:spPr>
          <a:xfrm>
            <a:off x="640080" y="5577840"/>
            <a:ext cx="8229600" cy="365760"/>
          </a:xfrm>
          <a:prstGeom prst="rect">
            <a:avLst/>
          </a:prstGeom>
          <a:noFill/>
        </p:spPr>
        <p:txBody>
          <a:bodyPr wrap="square">
            <a:spAutoFit/>
          </a:bodyPr>
          <a:lstStyle/>
          <a:p>
            <a:pPr algn="l"/>
            <a:r>
              <a:rPr sz="1300" b="0">
                <a:solidFill>
                  <a:srgbClr val="D9E8F5"/>
                </a:solidFill>
              </a:rPr>
              <a:t>Presented by: Siddaray Bhajabalakar   |   Reg No: P03AC24S126056</a:t>
            </a:r>
          </a:p>
        </p:txBody>
      </p:sp>
      <p:sp>
        <p:nvSpPr>
          <p:cNvPr id="10" name="TextBox 9"/>
          <p:cNvSpPr txBox="1"/>
          <p:nvPr/>
        </p:nvSpPr>
        <p:spPr>
          <a:xfrm>
            <a:off x="9144000" y="3657600"/>
            <a:ext cx="2743200" cy="1828800"/>
          </a:xfrm>
          <a:prstGeom prst="rect">
            <a:avLst/>
          </a:prstGeom>
          <a:noFill/>
        </p:spPr>
        <p:txBody>
          <a:bodyPr wrap="square">
            <a:spAutoFit/>
          </a:bodyPr>
          <a:lstStyle/>
          <a:p>
            <a:pPr algn="ctr"/>
            <a:r>
              <a:rPr sz="2600" b="1">
                <a:solidFill>
                  <a:srgbClr val="FFC00D"/>
                </a:solidFill>
              </a:rPr>
              <a:t>Thank You
&amp;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