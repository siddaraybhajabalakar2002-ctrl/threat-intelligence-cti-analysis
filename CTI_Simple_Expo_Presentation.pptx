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3291840" cy="411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326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BCF2"/>
                </a:solidFill>
              </a:rPr>
              <a:t>🛡️ MCA PROJECT EXPO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Cyber Threat Intelligence (CTI)
Analysis Pipeline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00BCF2"/>
                </a:solidFill>
              </a:rPr>
              <a:t>Automated Unstructured Threat Extraction, MITRE ATT&amp;CK Mapping &amp; Knowledge Graph Reasoning with NLP &amp;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011680"/>
          </a:xfrm>
          <a:prstGeom prst="roundRect">
            <a:avLst/>
          </a:prstGeom>
          <a:solidFill>
            <a:srgbClr val="131E38"/>
          </a:solidFill>
          <a:ln w="1905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BCF2"/>
                </a:solidFill>
              </a:rPr>
              <a:t>PRESENTED BY:</a:t>
            </a:r>
          </a:p>
          <a:p>
            <a:r>
              <a:rPr sz="2000" b="1">
                <a:solidFill>
                  <a:srgbClr val="FFFFFF"/>
                </a:solidFill>
              </a:rPr>
              <a:t>Siddaray Bhajabalakar</a:t>
            </a:r>
          </a:p>
          <a:p>
            <a:r>
              <a:rPr sz="1300" b="1">
                <a:solidFill>
                  <a:srgbClr val="FFC00D"/>
                </a:solidFill>
              </a:rPr>
              <a:t>University Seat No (USN): P03AC24S126056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754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BCF2"/>
                </a:solidFill>
              </a:rPr>
              <a:t>INSTITUTION:</a:t>
            </a:r>
          </a:p>
          <a:p>
            <a:r>
              <a:rPr sz="1400" b="1">
                <a:solidFill>
                  <a:srgbClr val="FFFFFF"/>
                </a:solidFill>
              </a:rPr>
              <a:t>Master of Computer Applications (MCA) • 2025–2026</a:t>
            </a:r>
          </a:p>
          <a:p>
            <a:r>
              <a:rPr sz="1200">
                <a:solidFill>
                  <a:srgbClr val="CFD9E8"/>
                </a:solidFill>
              </a:rPr>
              <a:t>Administrative Management College (AMC), Bengaluru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FOUNDATION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Introduction: Understanding Cyber Threat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What is Cyber Threat Intelligence (CTI)?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CTI is evidence-based cybersecurity knowledge—including context, mechanisms, indicators, and actionable advice—about existing or emerging cyber threats that helps organizations make informed security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413455" cy="33832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8D4"/>
                </a:solidFill>
              </a:rPr>
              <a:t>Massive Unstructured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37560"/>
            <a:ext cx="54864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30476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Thousands of threat advisories, vendor whitepapers, and CISA bulletins published weekly.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Written in free-form English prose and PDF reports that machines cannot naturally parse.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Contains critical Indicators of Compromise (IOCs) such as IPs, file hashes, and CVEs.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413455" cy="33832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F4444"/>
                </a:solidFill>
              </a:rPr>
              <a:t>The Human Bottleneck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337560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429000"/>
            <a:ext cx="30476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Security Operations Center (SOC) analysts manually read and extract indicators.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Manual extraction is slow (3 to 5 hours per report), tiring, and error-prone.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Creates high adversary dwell time (hackers remain undetected for an average of 16 days).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3413455" cy="33832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B981"/>
                </a:solidFill>
              </a:rPr>
              <a:t>The NLP &amp; Graph Opportunity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337560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429000"/>
            <a:ext cx="30476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Natural Language Processing (NLP) extracts threat actors and malware families automatically.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MITRE ATT&amp;CK classifies adversary techniques into standard tactics (Initial Access, C2).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Knowledge Graphs link isolated indicators into a queryable threat network in under 1.5 seconds.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THE CORE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Problem Statement: Challenges in Modern SOCs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42255" cy="21488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00D"/>
                </a:solidFill>
              </a:rPr>
              <a:t>1. Unstructured Data Overload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FFC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76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Critical threat intelligence is buried inside unstructured human text. Firewalls, SIEMs, and EDR systems cannot parse raw PDF reports or blog posts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42255" cy="21488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F4444"/>
                </a:solidFill>
              </a:rPr>
              <a:t>2. Manual Analyst Burnout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76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Manually copying and pasting IP addresses, MD5/SHA256 hashes, registry keys, and CVEs across hundreds of advisories causes fatigue and critical missed detections.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242255" cy="21488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3. Inconsistent ATT&amp;CK Mapping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4340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876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Connecting threat reports to the MITRE ATT&amp;CK matrix requires senior expert judgment. Different analysts tag the same attack behavior inconsistently.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94760"/>
            <a:ext cx="5242255" cy="21488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8D4"/>
                </a:solidFill>
              </a:rPr>
              <a:t>4. Disconnected, Siloed Intelligence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343400"/>
            <a:ext cx="54864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4876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A standalone malicious IP provides zero context. Analysts need to know: Which APT group owns it? What malware communicates with it? Relational graphs are missing.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Aim &amp; Key Objectives of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Overarching Project 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To design and engineer an automated, end-to-end Cyber Threat Intelligence analysis pipeline using NLP and LLMs to ingest unstructured security text, extract threat entities, standardize behaviors against MITRE ATT&amp;CK, build a Knowledge Graph, and generate instant defensive playbooks.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413455" cy="1554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01. Automated IOC 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3756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3047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Extract IPs, domains, hashes (MD5/SHA256), CVEs, and registry keys via deterministic regex.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413455" cy="1554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B981"/>
                </a:solidFill>
              </a:rPr>
              <a:t>02. Linguistic Entity Recognition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337560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429000"/>
            <a:ext cx="3047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Extract threat actors, malware names, and victim sectors using spaCy NLP (en_core_web_sm).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3413455" cy="1554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00D"/>
                </a:solidFill>
              </a:rPr>
              <a:t>03. MITRE ATT&amp;CK 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337560"/>
            <a:ext cx="548640" cy="27432"/>
          </a:xfrm>
          <a:prstGeom prst="rect">
            <a:avLst/>
          </a:prstGeom>
          <a:solidFill>
            <a:srgbClr val="FFC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429000"/>
            <a:ext cx="3047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Map observed adversary actions to 100+ ATT&amp;CK techniques and tactics (Initial Access, C2, Exfil).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3413455" cy="1554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8D4"/>
                </a:solidFill>
              </a:rPr>
              <a:t>04. Knowledge Graph Reasoning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029200"/>
            <a:ext cx="54864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3047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Construct a directed NetworkX graph linking entities into queryable Subject-Predicate-Object triples.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480560"/>
            <a:ext cx="3413455" cy="1554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F4444"/>
                </a:solidFill>
              </a:rPr>
              <a:t>05. Threat Severity 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5029200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5120640"/>
            <a:ext cx="3047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Calculate an objective 0–10 risk score based on entity presence and MITRE tactic impact weights.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480560"/>
            <a:ext cx="3413455" cy="1554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61772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06. REST API &amp; SOC Alerting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502920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5120640"/>
            <a:ext cx="3047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Expose endpoints via Flask REST API and dispatch automated TLS/SSL SMTP alerts with 2FA OTP security.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PIPELINE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System Architecture: Four-Stage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3840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STAGE 1: INGESTION &amp; 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148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Raw Text / PDF / CISA Feeds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Text De-noising &amp; Normalization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Deterministic Regex IOC Match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spaCy NLP Entity Tagging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175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BCF2"/>
                </a:solidFill>
              </a:rP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63040"/>
            <a:ext cx="2514600" cy="3840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00D"/>
                </a:solidFill>
              </a:rPr>
              <a:t>STAGE 2: MITRE CLASSIFIER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011680"/>
            <a:ext cx="548640" cy="27432"/>
          </a:xfrm>
          <a:prstGeom prst="rect">
            <a:avLst/>
          </a:prstGeom>
          <a:solidFill>
            <a:srgbClr val="FFC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103120"/>
            <a:ext cx="2148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Semantic Keyword Scanner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100+ ATT&amp;CK Techniques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Kill-Chain Tactic Resolution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Automated Posture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0175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BCF2"/>
                </a:solidFill>
              </a:rP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514600" cy="3840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8D4"/>
                </a:solidFill>
              </a:rPr>
              <a:t>STAGE 3: KNOWLEDGE GRAPH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11680"/>
            <a:ext cx="54864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2148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Relation Triple Extraction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Actor ➔ Malware ➔ C2 IP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NetworkX DiGraph Engine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D3.js Interactive JSON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0175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BCF2"/>
                </a:solidFill>
              </a:rP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463040"/>
            <a:ext cx="2514600" cy="384048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60020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B981"/>
                </a:solidFill>
              </a:rPr>
              <a:t>STAGE 4: SCORING &amp;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011680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103120"/>
            <a:ext cx="2148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0–10 Severity Score Engine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Automated Defense Playbooks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LLM Executive Threat Brief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TLS/SSL SMTP Email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Interfacing &amp; Microservices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603504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126480"/>
            <a:ext cx="10362895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FD9E8"/>
                </a:solidFill>
              </a:rPr>
              <a:t>Flask REST API (/analyze, /analyze/file, /health, /knowledge_graph/query)  |  Web UI  |  CLI Multi-Mode Runner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EXTRACTION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Stage 1: Dual-Layer Named Entity Recognition (NER)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42255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Layer A: Deterministic Regex IOC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764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IPv4 &amp; IPv6 Addresses: Strict 4-octet boundary matching (e.g. 185.132.189.10).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Domain Names &amp; URLs: FQDN parsing handles standard and defanged domains (silentc2[.]net).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Cryptographic Hashes: Matches 32-hex MD5, 40-hex SHA1, and 64-hex SHA-256 signatures.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Common Vulnerabilities (CVE): Case-insensitive pattern matching CVE-YYYY-NNNNN.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Windows Registry Keys: Extracts HKCU / HKLM Run and RunOnce persistence locations.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Scheduled Tasks: Extracts stealth task names (e.g. WindowsUpdateTask).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B981"/>
                </a:solidFill>
              </a:rPr>
              <a:t>Layer B: spaCy NLP Linguistic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764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Transformer-Aligned Model: Uses spaCy en_core_web_sm pipeline for linguistic tagging.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Entity Categories: Scans for ORG, PERSON, and PRODUCT entity labels in text.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Threat Actor Taxonomy: Heuristic classifier recognizes APT, BEAR, SPIDER, PANDA, FIN groups.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Malware Family Detection: Identifies backdoors, ransomware, and custom trojans.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Normalization &amp; Deduplication: Case-folding and whitespace trimming remove duplicate noise.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High Accuracy: Eliminates manual typo errors during high-stress triage.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BEHAVIORAL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Stage 2: MITRE ATT&amp;CK Classification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572000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00D"/>
                </a:solidFill>
              </a:rPr>
              <a:t>Dual-Mode ATT&amp;CK Tagging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FFC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2062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Database of 100+ Enterprise Techniques: Pre-configured across 14 standard tactics.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Natural Language Mapping: Automatically maps phrases like 'spear-phishing attachment' to T1566 and 'DNS tunneling' to T1071.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Direct Identifier Recognition: Recognizes explicit MITRE IDs (e.g. T1190, T1059) in text.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Kill-Chain Phase Resolution: Maps techniques to parent tactic IDs (TA0001 Initial Access to TA0040 Impact).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Defensive Posture Audit: Enables SOC teams to audit defensive coverage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463040"/>
            <a:ext cx="5882335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600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BCF2"/>
                </a:solidFill>
              </a:rPr>
              <a:t>CORE ATT&amp;CK TECHNIQUES MAPPED IN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057400"/>
            <a:ext cx="5486400" cy="457200"/>
          </a:xfrm>
          <a:prstGeom prst="rect">
            <a:avLst/>
          </a:prstGeom>
          <a:solidFill>
            <a:srgbClr val="0E172E"/>
          </a:solidFill>
          <a:ln w="1016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112264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C00D"/>
                </a:solidFill>
              </a:rPr>
              <a:t>T1566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12264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Phishing / Spear-phishing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12264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BCF2"/>
                </a:solidFill>
              </a:rPr>
              <a:t>TA0001: Initial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587752"/>
            <a:ext cx="5486400" cy="457200"/>
          </a:xfrm>
          <a:prstGeom prst="rect">
            <a:avLst/>
          </a:prstGeom>
          <a:solidFill>
            <a:srgbClr val="0E172E"/>
          </a:solidFill>
          <a:ln w="1016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642616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C00D"/>
                </a:solidFill>
              </a:rPr>
              <a:t>T1190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42616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Exploit Public-Facing App (CVE)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42616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BCF2"/>
                </a:solidFill>
              </a:rPr>
              <a:t>TA0001: Initial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3118104"/>
            <a:ext cx="5486400" cy="457200"/>
          </a:xfrm>
          <a:prstGeom prst="rect">
            <a:avLst/>
          </a:prstGeom>
          <a:solidFill>
            <a:srgbClr val="0E172E"/>
          </a:solidFill>
          <a:ln w="1016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31729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C00D"/>
                </a:solidFill>
              </a:rPr>
              <a:t>T1059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72968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Command &amp; Scripting (PowerShell)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17296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BCF2"/>
                </a:solidFill>
              </a:rPr>
              <a:t>TA0002: Execution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648456"/>
            <a:ext cx="5486400" cy="457200"/>
          </a:xfrm>
          <a:prstGeom prst="rect">
            <a:avLst/>
          </a:prstGeom>
          <a:solidFill>
            <a:srgbClr val="0E172E"/>
          </a:solidFill>
          <a:ln w="1016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3703320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C00D"/>
                </a:solidFill>
              </a:rPr>
              <a:t>T1547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0332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Registry Run Keys / Startup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703320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BCF2"/>
                </a:solidFill>
              </a:rPr>
              <a:t>TA0003: Persistence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4178808"/>
            <a:ext cx="5486400" cy="457200"/>
          </a:xfrm>
          <a:prstGeom prst="rect">
            <a:avLst/>
          </a:prstGeom>
          <a:solidFill>
            <a:srgbClr val="0E172E"/>
          </a:solidFill>
          <a:ln w="1016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4233672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C00D"/>
                </a:solidFill>
              </a:rPr>
              <a:t>T1055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3367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Process Injection / Hollowing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233672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BCF2"/>
                </a:solidFill>
              </a:rPr>
              <a:t>TA0005: Defense Evasion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4709160"/>
            <a:ext cx="5486400" cy="457200"/>
          </a:xfrm>
          <a:prstGeom prst="rect">
            <a:avLst/>
          </a:prstGeom>
          <a:solidFill>
            <a:srgbClr val="0E172E"/>
          </a:solidFill>
          <a:ln w="1016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4764024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C00D"/>
                </a:solidFill>
              </a:rPr>
              <a:t>T1071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764024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Application Layer Protocol (DNS)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764024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BCF2"/>
                </a:solidFill>
              </a:rPr>
              <a:t>TA0011: Command &amp;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5239512"/>
            <a:ext cx="5486400" cy="457200"/>
          </a:xfrm>
          <a:prstGeom prst="rect">
            <a:avLst/>
          </a:prstGeom>
          <a:solidFill>
            <a:srgbClr val="0E172E"/>
          </a:solidFill>
          <a:ln w="1016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5294376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C00D"/>
                </a:solidFill>
              </a:rPr>
              <a:t>T1041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294376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Exfiltration Over C2 Channel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294376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BCF2"/>
                </a:solidFill>
              </a:rPr>
              <a:t>TA0010: Exfiltration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REASONING &amp;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Stage 3 &amp; 4: Knowledge Graph &amp; Threat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42255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NetworkX Directed Knowledge 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764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Directed &amp; Weighted Graph: Nodes represent threat entities; edges represent labelled relationships with confidence scores.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Extracted Triples: Actor ➔ uses ➔ Malware, Malware ➔ communicates_with ➔ C2 IP, Malware ➔ exploits ➔ CVE.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Multi-Hop Traversal: Enables analysts to query multi-hop attack paths and discover shared C2 infrastructure.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Centrality Analytics: Computes degree centrality to find the most prolific malware strains and threat actors.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D3.js Interactive Export: export_d3() method outputs JSON schema for live web rendering.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F4444"/>
                </a:solidFill>
              </a:rPr>
              <a:t>Objective Threat Severity Scoring (0–10)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764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Eliminates Guesswork: Replaces subjective analyst opinions with a transparent, weighted formula.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Entity Weights: Threat Actor (+15), Zero-Day CVE (+10), Malware Payload (+10), C2 IP (+5).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Tactic Weights: TA0010 Exfiltration (+20), TA0040 Impact (+20), TA0011 C2 (+15), TA0003 Persistence (+8).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Four Standard Triage Tiers: CRITICAL (8.0–10.0), HIGH (6.0–7.9), MEDIUM (3.5–5.9), LOW (0.0–3.4).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Automated Escalation: High and Critical alerts immediately trigger incident response playbooks and email alerts.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PRODUCTION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Enterprise Features: SMTP Alerts, 2FA &amp; REST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TLS/SSL SMTP Email 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476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Enterprise encryption with timeout safeguards (supports Gmail, Outlook, SendGrid).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Sensitive credentials isolated in .env file with strict security protection.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Dispatches automated high-priority threat advisory emails to SOC analysts.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13455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00D"/>
                </a:solidFill>
              </a:rPr>
              <a:t>2FA OTP User Authentication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011680"/>
            <a:ext cx="548640" cy="27432"/>
          </a:xfrm>
          <a:prstGeom prst="rect">
            <a:avLst/>
          </a:prstGeom>
          <a:solidFill>
            <a:srgbClr val="FFC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476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Generates cryptographically random 6-digit one-time passwords via SystemRandom.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Enforces strict 5-minute time-to-live (TTL) expiration window in memory store.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Dispatches branded HTML login codes to verify security analyst identities.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B981"/>
                </a:solidFill>
              </a:rPr>
              <a:t>RESTful API &amp; Docker Ready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476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Lightweight Flask microservice with endpoints: /analyze, /analyze/file, /health.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Native PDF advisory parsing using PyPDF2 text extraction module.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Containerized with Dockerfile for single-command enterprise deployment.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DEMONSTRATION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Case Study: APT29 Campaign &amp; Experimental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42255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00D"/>
                </a:solidFill>
              </a:rPr>
              <a:t>Real-World Walkthrough: APT29 SilentHorn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FFC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764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Advisory Ingestion: 1-page report detailing Cozy Bear espionage targeting energy sectors.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Extracted IOCs: C2 IPs (185.132.189.10, 91.243.250.21), SHA256 hashes, zero-day CVE-2023-45678, registry Run key.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MITRE Mapping: Successfully tagged T1566, T1190, T1059, T1547, T1055, T1071, and T1041.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Knowledge Graph: 14 interconnected nodes and 12 relation edges generated.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Calculated Severity: 8.6 / 10.0 (CRITICAL TIER).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Automated Playbook: Issued immediate firewall IP blocks and Exchange patch warnings.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42255" cy="141732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7276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BCF2"/>
                </a:solidFill>
              </a:rPr>
              <a:t>1.42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AVERAGE PIPELINE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0428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FD9E8"/>
                </a:solidFill>
              </a:rPr>
              <a:t>Processed in under 2s vs 3+ hours manual analyst triage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63240"/>
            <a:ext cx="5242255" cy="141732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7296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B981"/>
                </a:solidFill>
              </a:rPr>
              <a:t>98.4%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IOC EXTRACTION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0448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FD9E8"/>
                </a:solidFill>
              </a:rPr>
              <a:t>Near-zero false positives across regex test suite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242255" cy="141732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77316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8D4"/>
                </a:solidFill>
              </a:rPr>
              <a:t>99.2% Speedup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120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SOC TRIAGE LATENCY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50468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FD9E8"/>
                </a:solidFill>
              </a:rPr>
              <a:t>Eliminates analyst burnout and repetitive copying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SUMMARY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Conclusion &amp; Project Expo Jury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B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400800" cy="4663440"/>
          </a:xfrm>
          <a:prstGeom prst="roundRect">
            <a:avLst/>
          </a:prstGeom>
          <a:solidFill>
            <a:srgbClr val="131E38"/>
          </a:solidFill>
          <a:ln w="15240">
            <a:solidFill>
              <a:srgbClr val="1D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CF2"/>
                </a:solidFill>
              </a:rPr>
              <a:t>Summary of Research 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0" cy="274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6035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End-to-End Automation: Replaces slow, manual CTI triage with a multi-stage NLP &amp; graph pipeline.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High Accuracy &amp; Standardization: 98.4% precision in IOC extraction and 100+ MITRE ATT&amp;CK techniques mapped.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Relational Threat Intelligence: NetworkX Knowledge Graph reveals hidden multi-hop attack infrastructure.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Objective Risk Scoring: Transparent 0–10 severity scoring algorithm with actionable sysadmin playbooks.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Enterprise Security: Full TLS/SSL SMTP email dispatch and secure 2FA OTP authentication.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▸  Production-Ready: Verified via unit tests, Flask REST API, Docker container, and cross-platform runners.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053535" cy="4663440"/>
          </a:xfrm>
          <a:prstGeom prst="roundRect">
            <a:avLst/>
          </a:prstGeom>
          <a:solidFill>
            <a:srgbClr val="131E38"/>
          </a:solidFill>
          <a:ln w="1905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8288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BCF2"/>
                </a:solidFill>
              </a:rPr>
              <a:t>Thank You!</a:t>
            </a:r>
          </a:p>
          <a:p>
            <a:pPr algn="ctr"/>
            <a:r>
              <a:rPr sz="1500">
                <a:solidFill>
                  <a:srgbClr val="FFFFFF"/>
                </a:solidFill>
              </a:rPr>
              <a:t>Questions &amp; Jury Defense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291840"/>
            <a:ext cx="3504895" cy="2468880"/>
          </a:xfrm>
          <a:prstGeom prst="roundRect">
            <a:avLst/>
          </a:prstGeom>
          <a:solidFill>
            <a:srgbClr val="0C152A"/>
          </a:solidFill>
          <a:ln w="12700">
            <a:solidFill>
              <a:srgbClr val="1B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429000"/>
            <a:ext cx="32004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BCF2"/>
                </a:solidFill>
              </a:rPr>
              <a:t>STUDENT PRESENTER:</a:t>
            </a:r>
          </a:p>
          <a:p>
            <a:r>
              <a:rPr sz="1600" b="1">
                <a:solidFill>
                  <a:srgbClr val="FFFFFF"/>
                </a:solidFill>
              </a:rPr>
              <a:t>Siddaray Bhajabalakar</a:t>
            </a:r>
          </a:p>
          <a:p>
            <a:r>
              <a:rPr sz="1200" b="1">
                <a:solidFill>
                  <a:srgbClr val="FFC00D"/>
                </a:solidFill>
              </a:rPr>
              <a:t>USN: P03AC24S126056</a:t>
            </a:r>
          </a:p>
          <a:p>
            <a:r>
              <a:rPr sz="1050">
                <a:solidFill>
                  <a:srgbClr val="8CA0BA"/>
                </a:solidFill>
              </a:rPr>
              <a:t>Master of Computer Applications (MCA) • 2025–2026
Administrative Management College (AMC), Bengaluru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8CA0BA"/>
                </a:solidFill>
              </a:rPr>
              <a:t>Siddaray Bhajabalakar (P03AC24S126056)  |  MCA  |  Administrative Management College (AMC), Bengaluru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BCF2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